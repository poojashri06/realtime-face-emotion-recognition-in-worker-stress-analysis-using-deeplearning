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g3e01fee8589_2_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" name="Google Shape;10;g3e01fee8589_2_2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g3e01fee8589_2_2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g3e01fee8589_2_1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g3e01fee8589_2_10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g3e01fee8589_2_10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e01fee8589_2_2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" name="Google Shape;49;g3e01fee8589_2_26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g3e01fee8589_2_26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e01fee8589_0_301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e01fee8589_2_3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g3e01fee8589_2_36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g3e01fee8589_2_36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e01fee8589_2_4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g3e01fee8589_2_46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g3e01fee8589_2_46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e01fee8589_0_5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e01fee8589_0_5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e01fee8589_2_6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g3e01fee8589_2_66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g3e01fee8589_2_66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e01fee8589_2_7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g3e01fee8589_2_78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g3e01fee8589_2_78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e01fee8589_2_9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7" name="Google Shape;277;g3e01fee8589_2_96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g3e01fee8589_2_96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e01fee8589_2_19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1" name="Google Shape;291;g3e01fee8589_2_199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g3e01fee8589_2_199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e01fee8589_0_1040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e01fee8589_2_21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0" name="Google Shape;370;g3e01fee8589_2_217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g3e01fee8589_2_217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e01fee8589_2_22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2" name="Google Shape;392;g3e01fee8589_2_228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g3e01fee8589_2_228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3e01fee8589_0_1285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e01fee8589_2_25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6" name="Google Shape;436;g3e01fee8589_2_250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g3e01fee8589_2_250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e01fee8589_101_0)">
  <p:cSld name="Generated (g3e01fee8589_101_0)"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1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19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1.png"/><Relationship Id="rId4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17.jpg"/><Relationship Id="rId5" Type="http://schemas.openxmlformats.org/officeDocument/2006/relationships/image" Target="../media/image2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Relationship Id="rId4" Type="http://schemas.openxmlformats.org/officeDocument/2006/relationships/image" Target="../media/image26.png"/><Relationship Id="rId10" Type="http://schemas.openxmlformats.org/officeDocument/2006/relationships/image" Target="../media/image34.png"/><Relationship Id="rId9" Type="http://schemas.openxmlformats.org/officeDocument/2006/relationships/image" Target="../media/image33.png"/><Relationship Id="rId5" Type="http://schemas.openxmlformats.org/officeDocument/2006/relationships/image" Target="../media/image29.png"/><Relationship Id="rId6" Type="http://schemas.openxmlformats.org/officeDocument/2006/relationships/image" Target="../media/image27.png"/><Relationship Id="rId7" Type="http://schemas.openxmlformats.org/officeDocument/2006/relationships/image" Target="../media/image30.png"/><Relationship Id="rId8" Type="http://schemas.openxmlformats.org/officeDocument/2006/relationships/image" Target="../media/image3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5.png"/><Relationship Id="rId4" Type="http://schemas.openxmlformats.org/officeDocument/2006/relationships/image" Target="../media/image22.png"/><Relationship Id="rId5" Type="http://schemas.openxmlformats.org/officeDocument/2006/relationships/image" Target="../media/image24.png"/><Relationship Id="rId6" Type="http://schemas.openxmlformats.org/officeDocument/2006/relationships/image" Target="../media/image2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4"/>
          <p:cNvGrpSpPr/>
          <p:nvPr/>
        </p:nvGrpSpPr>
        <p:grpSpPr>
          <a:xfrm>
            <a:off x="381000" y="762000"/>
            <a:ext cx="6000750" cy="2857500"/>
            <a:chOff x="381000" y="762000"/>
            <a:chExt cx="6000750" cy="2857500"/>
          </a:xfrm>
        </p:grpSpPr>
        <p:sp>
          <p:nvSpPr>
            <p:cNvPr id="15" name="Google Shape;15;p4"/>
            <p:cNvSpPr/>
            <p:nvPr/>
          </p:nvSpPr>
          <p:spPr>
            <a:xfrm>
              <a:off x="381000" y="952500"/>
              <a:ext cx="76200" cy="2286000"/>
            </a:xfrm>
            <a:prstGeom prst="roundRect">
              <a:avLst>
                <a:gd fmla="val 50000" name="adj"/>
              </a:avLst>
            </a:prstGeom>
            <a:solidFill>
              <a:srgbClr val="FF6B6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4"/>
            <p:cNvSpPr txBox="1"/>
            <p:nvPr/>
          </p:nvSpPr>
          <p:spPr>
            <a:xfrm>
              <a:off x="666750" y="762000"/>
              <a:ext cx="57150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4080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rPr>
                <a:t>Real-time Face Emotion Recognition</a:t>
              </a:r>
              <a:endParaRPr b="1" sz="408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7" name="Google Shape;17;p4"/>
            <p:cNvSpPr txBox="1"/>
            <p:nvPr/>
          </p:nvSpPr>
          <p:spPr>
            <a:xfrm>
              <a:off x="666750" y="2286000"/>
              <a:ext cx="4762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200">
                  <a:solidFill>
                    <a:srgbClr val="4ECDC4"/>
                  </a:solidFill>
                  <a:latin typeface="Arial"/>
                  <a:ea typeface="Arial"/>
                  <a:cs typeface="Arial"/>
                  <a:sym typeface="Arial"/>
                </a:rPr>
                <a:t>In Worker Stress Analysis</a:t>
              </a:r>
              <a:endParaRPr b="0" sz="2200">
                <a:solidFill>
                  <a:srgbClr val="4ECDC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p4"/>
            <p:cNvSpPr txBox="1"/>
            <p:nvPr/>
          </p:nvSpPr>
          <p:spPr>
            <a:xfrm>
              <a:off x="666750" y="2857500"/>
              <a:ext cx="52389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Deep Learning: Convolutional Neural Networks (CNNs)</a:t>
              </a:r>
              <a:endParaRPr b="0" sz="14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with TensorFlow / Keras Framework</a:t>
              </a:r>
              <a:endParaRPr b="0" sz="14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" name="Google Shape;19;p4"/>
          <p:cNvGrpSpPr/>
          <p:nvPr/>
        </p:nvGrpSpPr>
        <p:grpSpPr>
          <a:xfrm>
            <a:off x="0" y="4572000"/>
            <a:ext cx="9144000" cy="571500"/>
            <a:chOff x="0" y="4572000"/>
            <a:chExt cx="9144000" cy="571500"/>
          </a:xfrm>
        </p:grpSpPr>
        <p:sp>
          <p:nvSpPr>
            <p:cNvPr id="20" name="Google Shape;20;p4"/>
            <p:cNvSpPr/>
            <p:nvPr/>
          </p:nvSpPr>
          <p:spPr>
            <a:xfrm>
              <a:off x="0" y="4572000"/>
              <a:ext cx="9144000" cy="571500"/>
            </a:xfrm>
            <a:prstGeom prst="rect">
              <a:avLst/>
            </a:prstGeom>
            <a:solidFill>
              <a:srgbClr val="000000">
                <a:alpha val="3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4"/>
            <p:cNvSpPr txBox="1"/>
            <p:nvPr/>
          </p:nvSpPr>
          <p:spPr>
            <a:xfrm>
              <a:off x="381000" y="4572000"/>
              <a:ext cx="3810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94A3B8"/>
                  </a:solidFill>
                  <a:latin typeface="Georgia"/>
                  <a:ea typeface="Georgia"/>
                  <a:cs typeface="Georgia"/>
                  <a:sym typeface="Georgia"/>
                </a:rPr>
                <a:t>Capstone Project Presentation</a:t>
              </a:r>
              <a:endParaRPr b="0" sz="1200">
                <a:solidFill>
                  <a:srgbClr val="94A3B8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22" name="Google Shape;22;p4"/>
            <p:cNvSpPr txBox="1"/>
            <p:nvPr/>
          </p:nvSpPr>
          <p:spPr>
            <a:xfrm>
              <a:off x="6477000" y="4572000"/>
              <a:ext cx="2286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Poojashri K</a:t>
              </a:r>
              <a:endParaRPr b="1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/>
          <p:nvPr/>
        </p:nvSpPr>
        <p:spPr>
          <a:xfrm>
            <a:off x="457200" y="285750"/>
            <a:ext cx="82296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Problem Statement &amp; Market Need</a:t>
            </a:r>
            <a:endParaRPr b="1" sz="32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9" name="Google Shape;29;p5"/>
          <p:cNvSpPr/>
          <p:nvPr/>
        </p:nvSpPr>
        <p:spPr>
          <a:xfrm>
            <a:off x="381000" y="333375"/>
            <a:ext cx="76200" cy="381000"/>
          </a:xfrm>
          <a:prstGeom prst="roundRect">
            <a:avLst>
              <a:gd fmla="val 50000" name="adj"/>
            </a:avLst>
          </a:prstGeom>
          <a:solidFill>
            <a:srgbClr val="FF6B6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0" name="Google Shape;30;p5"/>
          <p:cNvGrpSpPr/>
          <p:nvPr/>
        </p:nvGrpSpPr>
        <p:grpSpPr>
          <a:xfrm>
            <a:off x="0" y="4667250"/>
            <a:ext cx="9144000" cy="476400"/>
            <a:chOff x="0" y="4667250"/>
            <a:chExt cx="9144000" cy="476400"/>
          </a:xfrm>
        </p:grpSpPr>
        <p:sp>
          <p:nvSpPr>
            <p:cNvPr id="31" name="Google Shape;31;p5"/>
            <p:cNvSpPr/>
            <p:nvPr/>
          </p:nvSpPr>
          <p:spPr>
            <a:xfrm>
              <a:off x="0" y="4667250"/>
              <a:ext cx="9144000" cy="476400"/>
            </a:xfrm>
            <a:prstGeom prst="rect">
              <a:avLst/>
            </a:prstGeom>
            <a:solidFill>
              <a:srgbClr val="000000">
                <a:alpha val="3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5"/>
            <p:cNvSpPr txBox="1"/>
            <p:nvPr/>
          </p:nvSpPr>
          <p:spPr>
            <a:xfrm>
              <a:off x="381000" y="4667250"/>
              <a:ext cx="3810000" cy="476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94A3B8"/>
                  </a:solidFill>
                  <a:latin typeface="Georgia"/>
                  <a:ea typeface="Georgia"/>
                  <a:cs typeface="Georgia"/>
                  <a:sym typeface="Georgia"/>
                </a:rPr>
                <a:t>Capstone Project Presentation</a:t>
              </a:r>
              <a:endParaRPr b="0" sz="1000">
                <a:solidFill>
                  <a:srgbClr val="94A3B8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33" name="Google Shape;33;p5"/>
            <p:cNvSpPr txBox="1"/>
            <p:nvPr/>
          </p:nvSpPr>
          <p:spPr>
            <a:xfrm>
              <a:off x="6858000" y="4667250"/>
              <a:ext cx="1905000" cy="476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Poojashri K</a:t>
              </a:r>
              <a:endParaRPr b="1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4" name="Google Shape;34;p5"/>
          <p:cNvGrpSpPr/>
          <p:nvPr/>
        </p:nvGrpSpPr>
        <p:grpSpPr>
          <a:xfrm>
            <a:off x="457200" y="1047750"/>
            <a:ext cx="8229600" cy="3428925"/>
            <a:chOff x="457200" y="1047750"/>
            <a:chExt cx="8229600" cy="3428925"/>
          </a:xfrm>
        </p:grpSpPr>
        <p:sp>
          <p:nvSpPr>
            <p:cNvPr id="35" name="Google Shape;35;p5"/>
            <p:cNvSpPr/>
            <p:nvPr/>
          </p:nvSpPr>
          <p:spPr>
            <a:xfrm>
              <a:off x="457200" y="1047750"/>
              <a:ext cx="2667000" cy="1666800"/>
            </a:xfrm>
            <a:prstGeom prst="roundRect">
              <a:avLst>
                <a:gd fmla="val 6857" name="adj"/>
              </a:avLst>
            </a:prstGeom>
            <a:solidFill>
              <a:srgbClr val="1A202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5"/>
            <p:cNvSpPr txBox="1"/>
            <p:nvPr/>
          </p:nvSpPr>
          <p:spPr>
            <a:xfrm>
              <a:off x="571500" y="1143000"/>
              <a:ext cx="2438400" cy="147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F6B6B"/>
                  </a:solidFill>
                  <a:latin typeface="Arial"/>
                  <a:ea typeface="Arial"/>
                  <a:cs typeface="Arial"/>
                  <a:sym typeface="Arial"/>
                </a:rPr>
                <a:t>Worker Stress</a:t>
              </a:r>
              <a:endParaRPr b="1" sz="1400">
                <a:solidFill>
                  <a:srgbClr val="FF6B6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Addresses high workplace stress affecting productivity and mental health via automated, real-time analysis.</a:t>
              </a:r>
              <a:endParaRPr b="0" sz="11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37;p5"/>
            <p:cNvSpPr/>
            <p:nvPr/>
          </p:nvSpPr>
          <p:spPr>
            <a:xfrm>
              <a:off x="3238500" y="1047750"/>
              <a:ext cx="2667000" cy="1666800"/>
            </a:xfrm>
            <a:prstGeom prst="roundRect">
              <a:avLst>
                <a:gd fmla="val 6857" name="adj"/>
              </a:avLst>
            </a:prstGeom>
            <a:solidFill>
              <a:srgbClr val="1A202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5"/>
            <p:cNvSpPr txBox="1"/>
            <p:nvPr/>
          </p:nvSpPr>
          <p:spPr>
            <a:xfrm>
              <a:off x="3352800" y="1143000"/>
              <a:ext cx="2438400" cy="147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4ECDC4"/>
                  </a:solidFill>
                  <a:latin typeface="Arial"/>
                  <a:ea typeface="Arial"/>
                  <a:cs typeface="Arial"/>
                  <a:sym typeface="Arial"/>
                </a:rPr>
                <a:t>Market Gap</a:t>
              </a:r>
              <a:endParaRPr b="1" sz="1400">
                <a:solidFill>
                  <a:srgbClr val="4ECDC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While Indian e-learning expands rapidly, maintaining quality remains a critical challenge.</a:t>
              </a:r>
              <a:endParaRPr b="0" sz="11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Google Shape;39;p5"/>
            <p:cNvSpPr/>
            <p:nvPr/>
          </p:nvSpPr>
          <p:spPr>
            <a:xfrm>
              <a:off x="6019800" y="1047750"/>
              <a:ext cx="2667000" cy="1666800"/>
            </a:xfrm>
            <a:prstGeom prst="roundRect">
              <a:avLst>
                <a:gd fmla="val 6857" name="adj"/>
              </a:avLst>
            </a:prstGeom>
            <a:solidFill>
              <a:srgbClr val="1A202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" name="Google Shape;40;p5"/>
            <p:cNvSpPr txBox="1"/>
            <p:nvPr/>
          </p:nvSpPr>
          <p:spPr>
            <a:xfrm>
              <a:off x="6134100" y="1143000"/>
              <a:ext cx="2438400" cy="147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4ECDC4"/>
                  </a:solidFill>
                  <a:latin typeface="Arial"/>
                  <a:ea typeface="Arial"/>
                  <a:cs typeface="Arial"/>
                  <a:sym typeface="Arial"/>
                </a:rPr>
                <a:t>Non-Verbal Cues</a:t>
              </a:r>
              <a:endParaRPr b="1" sz="1400">
                <a:solidFill>
                  <a:srgbClr val="4ECDC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Teachers cannot effectively "read the faces" of 25–50 students in digital sessions.</a:t>
              </a:r>
              <a:endParaRPr b="0" sz="11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p5"/>
            <p:cNvSpPr/>
            <p:nvPr/>
          </p:nvSpPr>
          <p:spPr>
            <a:xfrm>
              <a:off x="457200" y="2809875"/>
              <a:ext cx="2667000" cy="1666800"/>
            </a:xfrm>
            <a:prstGeom prst="roundRect">
              <a:avLst>
                <a:gd fmla="val 6857" name="adj"/>
              </a:avLst>
            </a:prstGeom>
            <a:solidFill>
              <a:srgbClr val="1A202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5"/>
            <p:cNvSpPr txBox="1"/>
            <p:nvPr/>
          </p:nvSpPr>
          <p:spPr>
            <a:xfrm>
              <a:off x="571500" y="2905125"/>
              <a:ext cx="2438400" cy="147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4ECDC4"/>
                  </a:solidFill>
                  <a:latin typeface="Arial"/>
                  <a:ea typeface="Arial"/>
                  <a:cs typeface="Arial"/>
                  <a:sym typeface="Arial"/>
                </a:rPr>
                <a:t>Engagement Deficit</a:t>
              </a:r>
              <a:endParaRPr b="1" sz="1400">
                <a:solidFill>
                  <a:srgbClr val="4ECDC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Lack of real-time surveillance leads to students losing focus and a drop in efficacy.</a:t>
              </a:r>
              <a:endParaRPr b="0" sz="11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p5"/>
            <p:cNvSpPr/>
            <p:nvPr/>
          </p:nvSpPr>
          <p:spPr>
            <a:xfrm>
              <a:off x="3238500" y="2809875"/>
              <a:ext cx="2667000" cy="1666800"/>
            </a:xfrm>
            <a:prstGeom prst="roundRect">
              <a:avLst>
                <a:gd fmla="val 6857" name="adj"/>
              </a:avLst>
            </a:prstGeom>
            <a:solidFill>
              <a:srgbClr val="1A202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5"/>
            <p:cNvSpPr txBox="1"/>
            <p:nvPr/>
          </p:nvSpPr>
          <p:spPr>
            <a:xfrm>
              <a:off x="3352800" y="2905125"/>
              <a:ext cx="2438400" cy="147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4ECDC4"/>
                  </a:solidFill>
                  <a:latin typeface="Arial"/>
                  <a:ea typeface="Arial"/>
                  <a:cs typeface="Arial"/>
                  <a:sym typeface="Arial"/>
                </a:rPr>
                <a:t>AI Solution</a:t>
              </a:r>
              <a:endParaRPr b="1" sz="1400">
                <a:solidFill>
                  <a:srgbClr val="4ECDC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Deep learning algorithms bridge this gap by analyzing video and audio data objectively.</a:t>
              </a:r>
              <a:endParaRPr b="0" sz="11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45;p5"/>
            <p:cNvSpPr/>
            <p:nvPr/>
          </p:nvSpPr>
          <p:spPr>
            <a:xfrm>
              <a:off x="6019800" y="2809875"/>
              <a:ext cx="2667000" cy="1666800"/>
            </a:xfrm>
            <a:prstGeom prst="roundRect">
              <a:avLst>
                <a:gd fmla="val 6857" name="adj"/>
              </a:avLst>
            </a:prstGeom>
            <a:solidFill>
              <a:srgbClr val="1A202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5"/>
            <p:cNvSpPr txBox="1"/>
            <p:nvPr/>
          </p:nvSpPr>
          <p:spPr>
            <a:xfrm>
              <a:off x="6134100" y="2905125"/>
              <a:ext cx="2438400" cy="147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4ECDC4"/>
                  </a:solidFill>
                  <a:latin typeface="Arial"/>
                  <a:ea typeface="Arial"/>
                  <a:cs typeface="Arial"/>
                  <a:sym typeface="Arial"/>
                </a:rPr>
                <a:t>Data Insights</a:t>
              </a:r>
              <a:endParaRPr b="1" sz="1400">
                <a:solidFill>
                  <a:srgbClr val="4ECDC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Transitioning to numerical data allows for precise tracking of stress levels.</a:t>
              </a:r>
              <a:endParaRPr b="0" sz="11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Google Shape;52;p6"/>
          <p:cNvGrpSpPr/>
          <p:nvPr/>
        </p:nvGrpSpPr>
        <p:grpSpPr>
          <a:xfrm>
            <a:off x="381000" y="190500"/>
            <a:ext cx="8334525" cy="571500"/>
            <a:chOff x="381000" y="190500"/>
            <a:chExt cx="8334525" cy="571500"/>
          </a:xfrm>
        </p:grpSpPr>
        <p:sp>
          <p:nvSpPr>
            <p:cNvPr id="53" name="Google Shape;53;p6"/>
            <p:cNvSpPr/>
            <p:nvPr/>
          </p:nvSpPr>
          <p:spPr>
            <a:xfrm>
              <a:off x="381000" y="285750"/>
              <a:ext cx="76200" cy="381000"/>
            </a:xfrm>
            <a:prstGeom prst="roundRect">
              <a:avLst>
                <a:gd fmla="val 50000" name="adj"/>
              </a:avLst>
            </a:prstGeom>
            <a:solidFill>
              <a:srgbClr val="FF6B6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6"/>
            <p:cNvSpPr txBox="1"/>
            <p:nvPr/>
          </p:nvSpPr>
          <p:spPr>
            <a:xfrm>
              <a:off x="619125" y="190500"/>
              <a:ext cx="80964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200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rPr>
                <a:t>Dataset Details</a:t>
              </a:r>
              <a:endParaRPr b="1" sz="3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</p:grpSp>
      <p:grpSp>
        <p:nvGrpSpPr>
          <p:cNvPr id="55" name="Google Shape;55;p6"/>
          <p:cNvGrpSpPr/>
          <p:nvPr/>
        </p:nvGrpSpPr>
        <p:grpSpPr>
          <a:xfrm>
            <a:off x="381000" y="1047750"/>
            <a:ext cx="4000500" cy="3238500"/>
            <a:chOff x="381000" y="1047750"/>
            <a:chExt cx="4000500" cy="3238500"/>
          </a:xfrm>
        </p:grpSpPr>
        <p:sp>
          <p:nvSpPr>
            <p:cNvPr id="56" name="Google Shape;56;p6"/>
            <p:cNvSpPr/>
            <p:nvPr/>
          </p:nvSpPr>
          <p:spPr>
            <a:xfrm>
              <a:off x="381000" y="1047750"/>
              <a:ext cx="4000500" cy="3238500"/>
            </a:xfrm>
            <a:prstGeom prst="roundRect">
              <a:avLst>
                <a:gd fmla="val 4411" name="adj"/>
              </a:avLst>
            </a:prstGeom>
            <a:solidFill>
              <a:srgbClr val="1A202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6"/>
            <p:cNvSpPr txBox="1"/>
            <p:nvPr/>
          </p:nvSpPr>
          <p:spPr>
            <a:xfrm>
              <a:off x="619125" y="1238250"/>
              <a:ext cx="3524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FF6B6B"/>
                  </a:solidFill>
                  <a:latin typeface="Arial"/>
                  <a:ea typeface="Arial"/>
                  <a:cs typeface="Arial"/>
                  <a:sym typeface="Arial"/>
                </a:rPr>
                <a:t>Dataset Overview</a:t>
              </a:r>
              <a:endParaRPr b="1" sz="1600">
                <a:solidFill>
                  <a:srgbClr val="FF6B6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6"/>
            <p:cNvSpPr txBox="1"/>
            <p:nvPr/>
          </p:nvSpPr>
          <p:spPr>
            <a:xfrm>
              <a:off x="619125" y="1714500"/>
              <a:ext cx="3524400" cy="238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4ECDC4"/>
                  </a:solidFill>
                  <a:latin typeface="Arial"/>
                  <a:ea typeface="Arial"/>
                  <a:cs typeface="Arial"/>
                  <a:sym typeface="Arial"/>
                </a:rPr>
                <a:t>Total Images:</a:t>
              </a:r>
              <a:r>
                <a:rPr lang="en" sz="13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" sz="1300">
                  <a:solidFill>
                    <a:srgbClr val="CBD5E1"/>
                  </a:solidFill>
                </a:rPr>
                <a:t>35</a:t>
              </a:r>
              <a:r>
                <a:rPr lang="en" sz="13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,8</a:t>
              </a:r>
              <a:r>
                <a:rPr lang="en" sz="1300">
                  <a:solidFill>
                    <a:srgbClr val="CBD5E1"/>
                  </a:solidFill>
                </a:rPr>
                <a:t>87</a:t>
              </a:r>
              <a:endParaRPr sz="13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4ECDC4"/>
                  </a:solidFill>
                  <a:latin typeface="Arial"/>
                  <a:ea typeface="Arial"/>
                  <a:cs typeface="Arial"/>
                  <a:sym typeface="Arial"/>
                </a:rPr>
                <a:t>Training Set:</a:t>
              </a:r>
              <a:r>
                <a:rPr lang="en" sz="13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 80%</a:t>
              </a:r>
              <a:endParaRPr sz="13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4ECDC4"/>
                  </a:solidFill>
                  <a:latin typeface="Arial"/>
                  <a:ea typeface="Arial"/>
                  <a:cs typeface="Arial"/>
                  <a:sym typeface="Arial"/>
                </a:rPr>
                <a:t>Validation Set:</a:t>
              </a:r>
              <a:r>
                <a:rPr lang="en" sz="13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 20%</a:t>
              </a:r>
              <a:endParaRPr sz="13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4ECDC4"/>
                  </a:solidFill>
                  <a:latin typeface="Arial"/>
                  <a:ea typeface="Arial"/>
                  <a:cs typeface="Arial"/>
                  <a:sym typeface="Arial"/>
                </a:rPr>
                <a:t>Image Size:</a:t>
              </a:r>
              <a:r>
                <a:rPr lang="en" sz="13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 96 × 96 pixels</a:t>
              </a:r>
              <a:endParaRPr sz="13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4ECDC4"/>
                  </a:solidFill>
                  <a:latin typeface="Arial"/>
                  <a:ea typeface="Arial"/>
                  <a:cs typeface="Arial"/>
                  <a:sym typeface="Arial"/>
                </a:rPr>
                <a:t>Format:</a:t>
              </a:r>
              <a:r>
                <a:rPr lang="en" sz="13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" sz="1300">
                  <a:solidFill>
                    <a:srgbClr val="CBD5E1"/>
                  </a:solidFill>
                </a:rPr>
                <a:t>grayscale</a:t>
              </a:r>
              <a:r>
                <a:rPr lang="en" sz="13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 Images</a:t>
              </a:r>
              <a:endParaRPr sz="13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9" name="Google Shape;59;p6"/>
          <p:cNvGrpSpPr/>
          <p:nvPr/>
        </p:nvGrpSpPr>
        <p:grpSpPr>
          <a:xfrm>
            <a:off x="0" y="4667250"/>
            <a:ext cx="9144000" cy="476400"/>
            <a:chOff x="0" y="4667250"/>
            <a:chExt cx="9144000" cy="476400"/>
          </a:xfrm>
        </p:grpSpPr>
        <p:sp>
          <p:nvSpPr>
            <p:cNvPr id="60" name="Google Shape;60;p6"/>
            <p:cNvSpPr/>
            <p:nvPr/>
          </p:nvSpPr>
          <p:spPr>
            <a:xfrm>
              <a:off x="0" y="4667250"/>
              <a:ext cx="9144000" cy="476400"/>
            </a:xfrm>
            <a:prstGeom prst="rect">
              <a:avLst/>
            </a:prstGeom>
            <a:solidFill>
              <a:srgbClr val="000000">
                <a:alpha val="3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6"/>
            <p:cNvSpPr txBox="1"/>
            <p:nvPr/>
          </p:nvSpPr>
          <p:spPr>
            <a:xfrm>
              <a:off x="381000" y="4667250"/>
              <a:ext cx="3810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94A3B8"/>
                  </a:solidFill>
                  <a:latin typeface="Georgia"/>
                  <a:ea typeface="Georgia"/>
                  <a:cs typeface="Georgia"/>
                  <a:sym typeface="Georgia"/>
                </a:rPr>
                <a:t>Capstone Project Presentation</a:t>
              </a:r>
              <a:endParaRPr sz="1000">
                <a:solidFill>
                  <a:srgbClr val="94A3B8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62" name="Google Shape;62;p6"/>
            <p:cNvSpPr txBox="1"/>
            <p:nvPr/>
          </p:nvSpPr>
          <p:spPr>
            <a:xfrm>
              <a:off x="6858000" y="4667250"/>
              <a:ext cx="1905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Poojashri K</a:t>
              </a:r>
              <a:endParaRPr b="1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63" name="Google Shape;63;p6"/>
          <p:cNvPicPr preferRelativeResize="0"/>
          <p:nvPr/>
        </p:nvPicPr>
        <p:blipFill rotWithShape="1">
          <a:blip r:embed="rId4">
            <a:alphaModFix/>
          </a:blip>
          <a:srcRect b="-5353" l="-5015" r="-7181" t="-2779"/>
          <a:stretch/>
        </p:blipFill>
        <p:spPr>
          <a:xfrm>
            <a:off x="4879700" y="888200"/>
            <a:ext cx="3655500" cy="3398100"/>
          </a:xfrm>
          <a:prstGeom prst="roundRect">
            <a:avLst>
              <a:gd fmla="val 5333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8" name="Google Shape;6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7"/>
          <p:cNvSpPr/>
          <p:nvPr/>
        </p:nvSpPr>
        <p:spPr>
          <a:xfrm>
            <a:off x="381000" y="285750"/>
            <a:ext cx="76200" cy="381000"/>
          </a:xfrm>
          <a:prstGeom prst="roundRect">
            <a:avLst>
              <a:gd fmla="val 50000" name="adj"/>
            </a:avLst>
          </a:prstGeom>
          <a:solidFill>
            <a:srgbClr val="FF6B6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7"/>
          <p:cNvSpPr txBox="1"/>
          <p:nvPr/>
        </p:nvSpPr>
        <p:spPr>
          <a:xfrm>
            <a:off x="619125" y="190500"/>
            <a:ext cx="80964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Data Summary</a:t>
            </a:r>
            <a:endParaRPr b="1" sz="32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1" name="Google Shape;71;p7"/>
          <p:cNvSpPr txBox="1"/>
          <p:nvPr/>
        </p:nvSpPr>
        <p:spPr>
          <a:xfrm>
            <a:off x="619125" y="809625"/>
            <a:ext cx="79059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Model trained on the </a:t>
            </a:r>
            <a:r>
              <a:rPr b="1" lang="en" sz="11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FER-2013 dataset</a:t>
            </a:r>
            <a:r>
              <a:rPr b="0" lang="en" sz="11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consisting of 35,887 grayscale, 48×4</a:t>
            </a:r>
            <a:r>
              <a:rPr lang="en" sz="1100">
                <a:solidFill>
                  <a:srgbClr val="CBD5E1"/>
                </a:solidFill>
              </a:rPr>
              <a:t>8</a:t>
            </a:r>
            <a:r>
              <a:rPr b="0" lang="en" sz="11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sized face images across seven emotion categories. Source: </a:t>
            </a:r>
            <a:r>
              <a:rPr b="0" lang="en" sz="1100" u="sng">
                <a:solidFill>
                  <a:srgbClr val="4ECDC4"/>
                </a:solidFill>
                <a:latin typeface="Arial"/>
                <a:ea typeface="Arial"/>
                <a:cs typeface="Arial"/>
                <a:sym typeface="Arial"/>
              </a:rPr>
              <a:t>https://www.kaggle.com/msambare/fer2013</a:t>
            </a:r>
            <a:endParaRPr b="0" sz="1100">
              <a:solidFill>
                <a:srgbClr val="CBD5E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7"/>
          <p:cNvSpPr/>
          <p:nvPr/>
        </p:nvSpPr>
        <p:spPr>
          <a:xfrm>
            <a:off x="381000" y="1476375"/>
            <a:ext cx="8382000" cy="381000"/>
          </a:xfrm>
          <a:prstGeom prst="roundRect">
            <a:avLst>
              <a:gd fmla="val 10000" name="adj"/>
            </a:avLst>
          </a:prstGeom>
          <a:solidFill>
            <a:srgbClr val="1A202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3" name="Google Shape;73;p7"/>
          <p:cNvGrpSpPr/>
          <p:nvPr/>
        </p:nvGrpSpPr>
        <p:grpSpPr>
          <a:xfrm>
            <a:off x="381000" y="1476375"/>
            <a:ext cx="8382150" cy="381000"/>
            <a:chOff x="381000" y="1476375"/>
            <a:chExt cx="8382150" cy="381000"/>
          </a:xfrm>
        </p:grpSpPr>
        <p:sp>
          <p:nvSpPr>
            <p:cNvPr id="74" name="Google Shape;74;p7"/>
            <p:cNvSpPr txBox="1"/>
            <p:nvPr/>
          </p:nvSpPr>
          <p:spPr>
            <a:xfrm>
              <a:off x="381000" y="1476375"/>
              <a:ext cx="952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FF6B6B"/>
                  </a:solidFill>
                  <a:latin typeface="Arial"/>
                  <a:ea typeface="Arial"/>
                  <a:cs typeface="Arial"/>
                  <a:sym typeface="Arial"/>
                </a:rPr>
                <a:t>Label</a:t>
              </a:r>
              <a:endParaRPr b="1" sz="1200">
                <a:solidFill>
                  <a:srgbClr val="FF6B6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7"/>
            <p:cNvSpPr txBox="1"/>
            <p:nvPr/>
          </p:nvSpPr>
          <p:spPr>
            <a:xfrm>
              <a:off x="1333500" y="1476375"/>
              <a:ext cx="1905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38100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FF6B6B"/>
                  </a:solidFill>
                  <a:latin typeface="Arial"/>
                  <a:ea typeface="Arial"/>
                  <a:cs typeface="Arial"/>
                  <a:sym typeface="Arial"/>
                </a:rPr>
                <a:t>Emotion</a:t>
              </a:r>
              <a:endParaRPr b="1" sz="1200">
                <a:solidFill>
                  <a:srgbClr val="FF6B6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7"/>
            <p:cNvSpPr txBox="1"/>
            <p:nvPr/>
          </p:nvSpPr>
          <p:spPr>
            <a:xfrm>
              <a:off x="3238500" y="1476375"/>
              <a:ext cx="2762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FF6B6B"/>
                  </a:solidFill>
                  <a:latin typeface="Arial"/>
                  <a:ea typeface="Arial"/>
                  <a:cs typeface="Arial"/>
                  <a:sym typeface="Arial"/>
                </a:rPr>
                <a:t>Training Images</a:t>
              </a:r>
              <a:endParaRPr b="1" sz="1200">
                <a:solidFill>
                  <a:srgbClr val="FF6B6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7"/>
            <p:cNvSpPr txBox="1"/>
            <p:nvPr/>
          </p:nvSpPr>
          <p:spPr>
            <a:xfrm>
              <a:off x="6000750" y="1476375"/>
              <a:ext cx="2762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FF6B6B"/>
                  </a:solidFill>
                  <a:latin typeface="Arial"/>
                  <a:ea typeface="Arial"/>
                  <a:cs typeface="Arial"/>
                  <a:sym typeface="Arial"/>
                </a:rPr>
                <a:t>Testing Images</a:t>
              </a:r>
              <a:endParaRPr b="1" sz="1200">
                <a:solidFill>
                  <a:srgbClr val="FF6B6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8" name="Google Shape;78;p7"/>
          <p:cNvGrpSpPr/>
          <p:nvPr/>
        </p:nvGrpSpPr>
        <p:grpSpPr>
          <a:xfrm>
            <a:off x="381000" y="1905000"/>
            <a:ext cx="8382150" cy="333300"/>
            <a:chOff x="381000" y="0"/>
            <a:chExt cx="8382150" cy="333300"/>
          </a:xfrm>
        </p:grpSpPr>
        <p:pic>
          <p:nvPicPr>
            <p:cNvPr id="79" name="Google Shape;79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81000" y="0"/>
              <a:ext cx="8382000" cy="333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7"/>
            <p:cNvSpPr txBox="1"/>
            <p:nvPr/>
          </p:nvSpPr>
          <p:spPr>
            <a:xfrm>
              <a:off x="381000" y="0"/>
              <a:ext cx="9525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7"/>
            <p:cNvSpPr txBox="1"/>
            <p:nvPr/>
          </p:nvSpPr>
          <p:spPr>
            <a:xfrm>
              <a:off x="1333500" y="0"/>
              <a:ext cx="19050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38100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Angry</a:t>
              </a:r>
              <a:endParaRPr b="0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7"/>
            <p:cNvSpPr txBox="1"/>
            <p:nvPr/>
          </p:nvSpPr>
          <p:spPr>
            <a:xfrm>
              <a:off x="3238500" y="0"/>
              <a:ext cx="27624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3,995</a:t>
              </a:r>
              <a:endParaRPr b="0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7"/>
            <p:cNvSpPr txBox="1"/>
            <p:nvPr/>
          </p:nvSpPr>
          <p:spPr>
            <a:xfrm>
              <a:off x="6000750" y="0"/>
              <a:ext cx="27624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958</a:t>
              </a:r>
              <a:endParaRPr b="0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4" name="Google Shape;84;p7"/>
          <p:cNvGrpSpPr/>
          <p:nvPr/>
        </p:nvGrpSpPr>
        <p:grpSpPr>
          <a:xfrm>
            <a:off x="381000" y="2238375"/>
            <a:ext cx="8382150" cy="333300"/>
            <a:chOff x="381000" y="0"/>
            <a:chExt cx="8382150" cy="333300"/>
          </a:xfrm>
        </p:grpSpPr>
        <p:sp>
          <p:nvSpPr>
            <p:cNvPr id="85" name="Google Shape;85;p7"/>
            <p:cNvSpPr txBox="1"/>
            <p:nvPr/>
          </p:nvSpPr>
          <p:spPr>
            <a:xfrm>
              <a:off x="381000" y="0"/>
              <a:ext cx="9525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7"/>
            <p:cNvSpPr txBox="1"/>
            <p:nvPr/>
          </p:nvSpPr>
          <p:spPr>
            <a:xfrm>
              <a:off x="1333500" y="0"/>
              <a:ext cx="19050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38100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Disgust</a:t>
              </a:r>
              <a:endParaRPr b="0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7"/>
            <p:cNvSpPr txBox="1"/>
            <p:nvPr/>
          </p:nvSpPr>
          <p:spPr>
            <a:xfrm>
              <a:off x="3238500" y="0"/>
              <a:ext cx="27624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436</a:t>
              </a:r>
              <a:endParaRPr b="0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7"/>
            <p:cNvSpPr txBox="1"/>
            <p:nvPr/>
          </p:nvSpPr>
          <p:spPr>
            <a:xfrm>
              <a:off x="6000750" y="0"/>
              <a:ext cx="27624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111</a:t>
              </a:r>
              <a:endParaRPr b="0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9" name="Google Shape;89;p7"/>
          <p:cNvGrpSpPr/>
          <p:nvPr/>
        </p:nvGrpSpPr>
        <p:grpSpPr>
          <a:xfrm>
            <a:off x="381000" y="2571750"/>
            <a:ext cx="8382150" cy="333300"/>
            <a:chOff x="381000" y="0"/>
            <a:chExt cx="8382150" cy="333300"/>
          </a:xfrm>
        </p:grpSpPr>
        <p:pic>
          <p:nvPicPr>
            <p:cNvPr id="90" name="Google Shape;9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81000" y="0"/>
              <a:ext cx="8382000" cy="333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1" name="Google Shape;91;p7"/>
            <p:cNvSpPr txBox="1"/>
            <p:nvPr/>
          </p:nvSpPr>
          <p:spPr>
            <a:xfrm>
              <a:off x="381000" y="0"/>
              <a:ext cx="9525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7"/>
            <p:cNvSpPr txBox="1"/>
            <p:nvPr/>
          </p:nvSpPr>
          <p:spPr>
            <a:xfrm>
              <a:off x="1333500" y="0"/>
              <a:ext cx="19050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38100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Fear</a:t>
              </a:r>
              <a:endParaRPr b="0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7"/>
            <p:cNvSpPr txBox="1"/>
            <p:nvPr/>
          </p:nvSpPr>
          <p:spPr>
            <a:xfrm>
              <a:off x="3238500" y="0"/>
              <a:ext cx="27624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4,097</a:t>
              </a:r>
              <a:endParaRPr b="0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7"/>
            <p:cNvSpPr txBox="1"/>
            <p:nvPr/>
          </p:nvSpPr>
          <p:spPr>
            <a:xfrm>
              <a:off x="6000750" y="0"/>
              <a:ext cx="27624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1,024</a:t>
              </a:r>
              <a:endParaRPr b="0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5" name="Google Shape;95;p7"/>
          <p:cNvGrpSpPr/>
          <p:nvPr/>
        </p:nvGrpSpPr>
        <p:grpSpPr>
          <a:xfrm>
            <a:off x="381000" y="2905125"/>
            <a:ext cx="8382150" cy="333300"/>
            <a:chOff x="381000" y="0"/>
            <a:chExt cx="8382150" cy="333300"/>
          </a:xfrm>
        </p:grpSpPr>
        <p:sp>
          <p:nvSpPr>
            <p:cNvPr id="96" name="Google Shape;96;p7"/>
            <p:cNvSpPr txBox="1"/>
            <p:nvPr/>
          </p:nvSpPr>
          <p:spPr>
            <a:xfrm>
              <a:off x="381000" y="0"/>
              <a:ext cx="9525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7"/>
            <p:cNvSpPr txBox="1"/>
            <p:nvPr/>
          </p:nvSpPr>
          <p:spPr>
            <a:xfrm>
              <a:off x="1333500" y="0"/>
              <a:ext cx="19050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38100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Happy</a:t>
              </a:r>
              <a:endParaRPr b="0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7"/>
            <p:cNvSpPr txBox="1"/>
            <p:nvPr/>
          </p:nvSpPr>
          <p:spPr>
            <a:xfrm>
              <a:off x="3238500" y="0"/>
              <a:ext cx="27624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7,215</a:t>
              </a:r>
              <a:endParaRPr b="0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7"/>
            <p:cNvSpPr txBox="1"/>
            <p:nvPr/>
          </p:nvSpPr>
          <p:spPr>
            <a:xfrm>
              <a:off x="6000750" y="0"/>
              <a:ext cx="27624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1,774</a:t>
              </a:r>
              <a:endParaRPr b="0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0" name="Google Shape;100;p7"/>
          <p:cNvGrpSpPr/>
          <p:nvPr/>
        </p:nvGrpSpPr>
        <p:grpSpPr>
          <a:xfrm>
            <a:off x="381000" y="3238500"/>
            <a:ext cx="8382150" cy="333300"/>
            <a:chOff x="381000" y="0"/>
            <a:chExt cx="8382150" cy="333300"/>
          </a:xfrm>
        </p:grpSpPr>
        <p:pic>
          <p:nvPicPr>
            <p:cNvPr id="101" name="Google Shape;101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81000" y="0"/>
              <a:ext cx="8382000" cy="333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" name="Google Shape;102;p7"/>
            <p:cNvSpPr txBox="1"/>
            <p:nvPr/>
          </p:nvSpPr>
          <p:spPr>
            <a:xfrm>
              <a:off x="381000" y="0"/>
              <a:ext cx="9525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7"/>
            <p:cNvSpPr txBox="1"/>
            <p:nvPr/>
          </p:nvSpPr>
          <p:spPr>
            <a:xfrm>
              <a:off x="1333500" y="0"/>
              <a:ext cx="19050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38100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Sad</a:t>
              </a:r>
              <a:endParaRPr b="0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7"/>
            <p:cNvSpPr txBox="1"/>
            <p:nvPr/>
          </p:nvSpPr>
          <p:spPr>
            <a:xfrm>
              <a:off x="3238500" y="0"/>
              <a:ext cx="27624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4,830</a:t>
              </a:r>
              <a:endParaRPr b="0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7"/>
            <p:cNvSpPr txBox="1"/>
            <p:nvPr/>
          </p:nvSpPr>
          <p:spPr>
            <a:xfrm>
              <a:off x="6000750" y="0"/>
              <a:ext cx="27624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1,247</a:t>
              </a:r>
              <a:endParaRPr b="0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6" name="Google Shape;106;p7"/>
          <p:cNvGrpSpPr/>
          <p:nvPr/>
        </p:nvGrpSpPr>
        <p:grpSpPr>
          <a:xfrm>
            <a:off x="381000" y="3571875"/>
            <a:ext cx="8382150" cy="333300"/>
            <a:chOff x="381000" y="0"/>
            <a:chExt cx="8382150" cy="333300"/>
          </a:xfrm>
        </p:grpSpPr>
        <p:sp>
          <p:nvSpPr>
            <p:cNvPr id="107" name="Google Shape;107;p7"/>
            <p:cNvSpPr txBox="1"/>
            <p:nvPr/>
          </p:nvSpPr>
          <p:spPr>
            <a:xfrm>
              <a:off x="381000" y="0"/>
              <a:ext cx="9525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7"/>
            <p:cNvSpPr txBox="1"/>
            <p:nvPr/>
          </p:nvSpPr>
          <p:spPr>
            <a:xfrm>
              <a:off x="1333500" y="0"/>
              <a:ext cx="19050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38100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Surprised</a:t>
              </a:r>
              <a:endParaRPr b="0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7"/>
            <p:cNvSpPr txBox="1"/>
            <p:nvPr/>
          </p:nvSpPr>
          <p:spPr>
            <a:xfrm>
              <a:off x="3238500" y="0"/>
              <a:ext cx="27624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3,171</a:t>
              </a:r>
              <a:endParaRPr b="0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7"/>
            <p:cNvSpPr txBox="1"/>
            <p:nvPr/>
          </p:nvSpPr>
          <p:spPr>
            <a:xfrm>
              <a:off x="6000750" y="0"/>
              <a:ext cx="27624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831</a:t>
              </a:r>
              <a:endParaRPr b="0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1" name="Google Shape;111;p7"/>
          <p:cNvGrpSpPr/>
          <p:nvPr/>
        </p:nvGrpSpPr>
        <p:grpSpPr>
          <a:xfrm>
            <a:off x="381000" y="3905250"/>
            <a:ext cx="8382150" cy="333300"/>
            <a:chOff x="381000" y="0"/>
            <a:chExt cx="8382150" cy="333300"/>
          </a:xfrm>
        </p:grpSpPr>
        <p:pic>
          <p:nvPicPr>
            <p:cNvPr id="112" name="Google Shape;112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81000" y="0"/>
              <a:ext cx="8382000" cy="333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" name="Google Shape;113;p7"/>
            <p:cNvSpPr txBox="1"/>
            <p:nvPr/>
          </p:nvSpPr>
          <p:spPr>
            <a:xfrm>
              <a:off x="381000" y="0"/>
              <a:ext cx="9525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7"/>
            <p:cNvSpPr txBox="1"/>
            <p:nvPr/>
          </p:nvSpPr>
          <p:spPr>
            <a:xfrm>
              <a:off x="1333500" y="0"/>
              <a:ext cx="19050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38100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Neutral</a:t>
              </a:r>
              <a:endParaRPr b="0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7"/>
            <p:cNvSpPr txBox="1"/>
            <p:nvPr/>
          </p:nvSpPr>
          <p:spPr>
            <a:xfrm>
              <a:off x="3238500" y="0"/>
              <a:ext cx="27624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4,965</a:t>
              </a:r>
              <a:endParaRPr b="0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7"/>
            <p:cNvSpPr txBox="1"/>
            <p:nvPr/>
          </p:nvSpPr>
          <p:spPr>
            <a:xfrm>
              <a:off x="6000750" y="0"/>
              <a:ext cx="27624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1,233</a:t>
              </a:r>
              <a:endParaRPr b="0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7" name="Google Shape;117;p7"/>
          <p:cNvSpPr/>
          <p:nvPr/>
        </p:nvSpPr>
        <p:spPr>
          <a:xfrm>
            <a:off x="0" y="4667250"/>
            <a:ext cx="9144000" cy="476400"/>
          </a:xfrm>
          <a:prstGeom prst="rect">
            <a:avLst/>
          </a:prstGeom>
          <a:solidFill>
            <a:srgbClr val="000000">
              <a:alpha val="3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7"/>
          <p:cNvSpPr txBox="1"/>
          <p:nvPr/>
        </p:nvSpPr>
        <p:spPr>
          <a:xfrm>
            <a:off x="381000" y="4667250"/>
            <a:ext cx="3810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94A3B8"/>
                </a:solidFill>
                <a:latin typeface="Georgia"/>
                <a:ea typeface="Georgia"/>
                <a:cs typeface="Georgia"/>
                <a:sym typeface="Georgia"/>
              </a:rPr>
              <a:t>Capstone Project Presentation</a:t>
            </a:r>
            <a:endParaRPr b="0" sz="1000">
              <a:solidFill>
                <a:srgbClr val="94A3B8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19" name="Google Shape;119;p7"/>
          <p:cNvSpPr txBox="1"/>
          <p:nvPr/>
        </p:nvSpPr>
        <p:spPr>
          <a:xfrm>
            <a:off x="6858000" y="4667250"/>
            <a:ext cx="1905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Poojashri K</a:t>
            </a:r>
            <a:endParaRPr b="1" sz="1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8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02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8"/>
          <p:cNvSpPr/>
          <p:nvPr/>
        </p:nvSpPr>
        <p:spPr>
          <a:xfrm>
            <a:off x="457200" y="137160"/>
            <a:ext cx="8229600" cy="640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95250" spcFirstLastPara="1" rIns="9525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4ECDC4"/>
                </a:solidFill>
                <a:latin typeface="Arial"/>
                <a:ea typeface="Arial"/>
                <a:cs typeface="Arial"/>
                <a:sym typeface="Arial"/>
              </a:rPr>
              <a:t>Data Issues &amp; Resolution</a:t>
            </a:r>
            <a:endParaRPr b="1" sz="3200">
              <a:solidFill>
                <a:srgbClr val="4ECDC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7" name="Google Shape;127;p8"/>
          <p:cNvGrpSpPr/>
          <p:nvPr/>
        </p:nvGrpSpPr>
        <p:grpSpPr>
          <a:xfrm>
            <a:off x="381000" y="1047750"/>
            <a:ext cx="4095900" cy="2286000"/>
            <a:chOff x="381000" y="1047750"/>
            <a:chExt cx="4095900" cy="2286000"/>
          </a:xfrm>
        </p:grpSpPr>
        <p:sp>
          <p:nvSpPr>
            <p:cNvPr id="128" name="Google Shape;128;p8"/>
            <p:cNvSpPr/>
            <p:nvPr/>
          </p:nvSpPr>
          <p:spPr>
            <a:xfrm>
              <a:off x="381000" y="1047750"/>
              <a:ext cx="4095900" cy="2286000"/>
            </a:xfrm>
            <a:prstGeom prst="roundRect">
              <a:avLst>
                <a:gd fmla="val 5000" name="adj"/>
              </a:avLst>
            </a:prstGeom>
            <a:solidFill>
              <a:srgbClr val="1A202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8"/>
            <p:cNvSpPr txBox="1"/>
            <p:nvPr/>
          </p:nvSpPr>
          <p:spPr>
            <a:xfrm>
              <a:off x="571500" y="1190625"/>
              <a:ext cx="3714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F6B6B"/>
                  </a:solidFill>
                  <a:latin typeface="Arial"/>
                  <a:ea typeface="Arial"/>
                  <a:cs typeface="Arial"/>
                  <a:sym typeface="Arial"/>
                </a:rPr>
                <a:t>Issues Identified</a:t>
              </a:r>
              <a:endParaRPr b="1" sz="1400">
                <a:solidFill>
                  <a:srgbClr val="FF6B6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8"/>
            <p:cNvSpPr txBox="1"/>
            <p:nvPr/>
          </p:nvSpPr>
          <p:spPr>
            <a:xfrm>
              <a:off x="571500" y="1571625"/>
              <a:ext cx="3714900" cy="16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304800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CBD5E1"/>
                </a:buClr>
                <a:buSzPts val="1200"/>
                <a:buFont typeface="Arial"/>
                <a:buChar char="●"/>
              </a:pPr>
              <a:r>
                <a:rPr b="0" lang="en" sz="12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Class Imbalance</a:t>
              </a:r>
              <a:endParaRPr b="0" sz="12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0480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CBD5E1"/>
                </a:buClr>
                <a:buSzPts val="1200"/>
                <a:buFont typeface="Arial"/>
                <a:buChar char="●"/>
              </a:pPr>
              <a:r>
                <a:rPr b="0" lang="en" sz="12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Inconsistent Lighting</a:t>
              </a:r>
              <a:endParaRPr b="0" sz="12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0480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CBD5E1"/>
                </a:buClr>
                <a:buSzPts val="1200"/>
                <a:buFont typeface="Arial"/>
                <a:buChar char="●"/>
              </a:pPr>
              <a:r>
                <a:rPr b="0" lang="en" sz="12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Varied Face Angles</a:t>
              </a:r>
              <a:endParaRPr b="0" sz="12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0480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CBD5E1"/>
                </a:buClr>
                <a:buSzPts val="1200"/>
                <a:buFont typeface="Arial"/>
                <a:buChar char="●"/>
              </a:pPr>
              <a:r>
                <a:rPr b="0" lang="en" sz="12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Variable Image Quality</a:t>
              </a:r>
              <a:endParaRPr b="0" sz="12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0480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CBD5E1"/>
                </a:buClr>
                <a:buSzPts val="1200"/>
                <a:buFont typeface="Arial"/>
                <a:buChar char="●"/>
              </a:pPr>
              <a:r>
                <a:rPr b="0" lang="en" sz="12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Demographic Expressions</a:t>
              </a:r>
              <a:endParaRPr b="0" sz="12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1" name="Google Shape;131;p8"/>
          <p:cNvGrpSpPr/>
          <p:nvPr/>
        </p:nvGrpSpPr>
        <p:grpSpPr>
          <a:xfrm>
            <a:off x="4667250" y="1047750"/>
            <a:ext cx="4095900" cy="2286000"/>
            <a:chOff x="4667250" y="1047750"/>
            <a:chExt cx="4095900" cy="2286000"/>
          </a:xfrm>
        </p:grpSpPr>
        <p:sp>
          <p:nvSpPr>
            <p:cNvPr id="132" name="Google Shape;132;p8"/>
            <p:cNvSpPr/>
            <p:nvPr/>
          </p:nvSpPr>
          <p:spPr>
            <a:xfrm>
              <a:off x="4667250" y="1047750"/>
              <a:ext cx="4095900" cy="2286000"/>
            </a:xfrm>
            <a:prstGeom prst="roundRect">
              <a:avLst>
                <a:gd fmla="val 5000" name="adj"/>
              </a:avLst>
            </a:prstGeom>
            <a:solidFill>
              <a:srgbClr val="1A202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8"/>
            <p:cNvSpPr txBox="1"/>
            <p:nvPr/>
          </p:nvSpPr>
          <p:spPr>
            <a:xfrm>
              <a:off x="4857750" y="1190625"/>
              <a:ext cx="3714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4ECDC4"/>
                  </a:solidFill>
                  <a:latin typeface="Arial"/>
                  <a:ea typeface="Arial"/>
                  <a:cs typeface="Arial"/>
                  <a:sym typeface="Arial"/>
                </a:rPr>
                <a:t>Solutions Applied</a:t>
              </a:r>
              <a:endParaRPr b="1" sz="1400">
                <a:solidFill>
                  <a:srgbClr val="4ECDC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8"/>
            <p:cNvSpPr txBox="1"/>
            <p:nvPr/>
          </p:nvSpPr>
          <p:spPr>
            <a:xfrm>
              <a:off x="4857750" y="1571625"/>
              <a:ext cx="3714900" cy="16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304800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CBD5E1"/>
                </a:buClr>
                <a:buSzPts val="1200"/>
                <a:buFont typeface="Arial"/>
                <a:buChar char="●"/>
              </a:pPr>
              <a:r>
                <a:rPr b="0" lang="en" sz="12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Data Augmentation</a:t>
              </a:r>
              <a:endParaRPr b="0" sz="12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0480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CBD5E1"/>
                </a:buClr>
                <a:buSzPts val="1200"/>
                <a:buFont typeface="Arial"/>
                <a:buChar char="●"/>
              </a:pPr>
              <a:r>
                <a:rPr b="0" lang="en" sz="12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Normalization (0-255 → 0-1)</a:t>
              </a:r>
              <a:endParaRPr b="0" sz="12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0480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CBD5E1"/>
                </a:buClr>
                <a:buSzPts val="1200"/>
                <a:buFont typeface="Arial"/>
                <a:buChar char="●"/>
              </a:pPr>
              <a:r>
                <a:rPr b="0" lang="en" sz="12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Random Shuffling</a:t>
              </a:r>
              <a:endParaRPr b="0" sz="12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0480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CBD5E1"/>
                </a:buClr>
                <a:buSzPts val="1200"/>
                <a:buFont typeface="Arial"/>
                <a:buChar char="●"/>
              </a:pPr>
              <a:r>
                <a:rPr b="0" lang="en" sz="12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Stratified Splitting</a:t>
              </a:r>
              <a:endParaRPr b="0" sz="12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0480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CBD5E1"/>
                </a:buClr>
                <a:buSzPts val="1200"/>
                <a:buFont typeface="Arial"/>
                <a:buChar char="●"/>
              </a:pPr>
              <a:r>
                <a:rPr b="0" lang="en" sz="12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Dropout Regularization</a:t>
              </a:r>
              <a:endParaRPr b="0" sz="12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0480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CBD5E1"/>
                </a:buClr>
                <a:buSzPts val="1200"/>
                <a:buFont typeface="Arial"/>
                <a:buChar char="●"/>
              </a:pPr>
              <a:r>
                <a:rPr b="0" lang="en" sz="12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Learning Rate Scheduling</a:t>
              </a:r>
              <a:endParaRPr b="0" sz="12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5" name="Google Shape;135;p8"/>
          <p:cNvGrpSpPr/>
          <p:nvPr/>
        </p:nvGrpSpPr>
        <p:grpSpPr>
          <a:xfrm>
            <a:off x="381000" y="3571875"/>
            <a:ext cx="8382000" cy="1333500"/>
            <a:chOff x="381000" y="3571875"/>
            <a:chExt cx="8382000" cy="1333500"/>
          </a:xfrm>
        </p:grpSpPr>
        <p:sp>
          <p:nvSpPr>
            <p:cNvPr id="136" name="Google Shape;136;p8"/>
            <p:cNvSpPr/>
            <p:nvPr/>
          </p:nvSpPr>
          <p:spPr>
            <a:xfrm>
              <a:off x="381000" y="3571875"/>
              <a:ext cx="76200" cy="285900"/>
            </a:xfrm>
            <a:prstGeom prst="roundRect">
              <a:avLst>
                <a:gd fmla="val 50000" name="adj"/>
              </a:avLst>
            </a:prstGeom>
            <a:solidFill>
              <a:srgbClr val="FF6B6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8"/>
            <p:cNvSpPr txBox="1"/>
            <p:nvPr/>
          </p:nvSpPr>
          <p:spPr>
            <a:xfrm>
              <a:off x="571500" y="3571875"/>
              <a:ext cx="8191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FF6B6B"/>
                  </a:solidFill>
                  <a:latin typeface="Arial"/>
                  <a:ea typeface="Arial"/>
                  <a:cs typeface="Arial"/>
                  <a:sym typeface="Arial"/>
                </a:rPr>
                <a:t>Challenges Faced</a:t>
              </a:r>
              <a:endParaRPr b="1" sz="1600">
                <a:solidFill>
                  <a:srgbClr val="FF6B6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8"/>
            <p:cNvSpPr txBox="1"/>
            <p:nvPr/>
          </p:nvSpPr>
          <p:spPr>
            <a:xfrm>
              <a:off x="571500" y="3952875"/>
              <a:ext cx="8191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• Handling large image datasets and infrastructure limitations (GPU connectivity).</a:t>
              </a:r>
              <a:endParaRPr b="0" sz="11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• Iterative model experimentation to find optimal architecture.</a:t>
              </a:r>
              <a:endParaRPr b="0" sz="11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• Managing system stability (Runtime and RAM crashes) under heavy loads.</a:t>
              </a:r>
              <a:endParaRPr b="0" sz="11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• Complex precision required for hyperparameter tuning.</a:t>
              </a:r>
              <a:endParaRPr b="0" sz="11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9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02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9"/>
          <p:cNvSpPr/>
          <p:nvPr/>
        </p:nvSpPr>
        <p:spPr>
          <a:xfrm>
            <a:off x="457200" y="137160"/>
            <a:ext cx="8229600" cy="640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9525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4ECDC4"/>
                </a:solidFill>
                <a:latin typeface="Arial"/>
                <a:ea typeface="Arial"/>
                <a:cs typeface="Arial"/>
                <a:sym typeface="Arial"/>
              </a:rPr>
              <a:t>Data Preparation Steps</a:t>
            </a:r>
            <a:endParaRPr b="1" sz="3200">
              <a:solidFill>
                <a:srgbClr val="4ECDC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6" name="Google Shape;146;p9"/>
          <p:cNvGrpSpPr/>
          <p:nvPr/>
        </p:nvGrpSpPr>
        <p:grpSpPr>
          <a:xfrm>
            <a:off x="571500" y="1143000"/>
            <a:ext cx="8001000" cy="381000"/>
            <a:chOff x="571500" y="1143000"/>
            <a:chExt cx="8001000" cy="381000"/>
          </a:xfrm>
        </p:grpSpPr>
        <p:sp>
          <p:nvSpPr>
            <p:cNvPr id="147" name="Google Shape;147;p9"/>
            <p:cNvSpPr/>
            <p:nvPr/>
          </p:nvSpPr>
          <p:spPr>
            <a:xfrm>
              <a:off x="571500" y="1143000"/>
              <a:ext cx="8001000" cy="381000"/>
            </a:xfrm>
            <a:prstGeom prst="roundRect">
              <a:avLst>
                <a:gd fmla="val 20000" name="adj"/>
              </a:avLst>
            </a:prstGeom>
            <a:solidFill>
              <a:srgbClr val="1A202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9"/>
            <p:cNvSpPr/>
            <p:nvPr/>
          </p:nvSpPr>
          <p:spPr>
            <a:xfrm>
              <a:off x="571500" y="1143000"/>
              <a:ext cx="381000" cy="381000"/>
            </a:xfrm>
            <a:prstGeom prst="roundRect">
              <a:avLst>
                <a:gd fmla="val 20000" name="adj"/>
              </a:avLst>
            </a:prstGeom>
            <a:solidFill>
              <a:srgbClr val="4ECDC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9"/>
            <p:cNvSpPr txBox="1"/>
            <p:nvPr/>
          </p:nvSpPr>
          <p:spPr>
            <a:xfrm>
              <a:off x="571500" y="1143000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0F1419"/>
                  </a:solidFill>
                  <a:latin typeface="Arial"/>
                  <a:ea typeface="Arial"/>
                  <a:cs typeface="Arial"/>
                  <a:sym typeface="Arial"/>
                </a:rPr>
                <a:t>01</a:t>
              </a:r>
              <a:endParaRPr b="1" sz="1400">
                <a:solidFill>
                  <a:srgbClr val="0F141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9"/>
            <p:cNvSpPr txBox="1"/>
            <p:nvPr/>
          </p:nvSpPr>
          <p:spPr>
            <a:xfrm>
              <a:off x="1047750" y="1143000"/>
              <a:ext cx="7429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Load images from dataset folders </a:t>
              </a:r>
              <a:r>
                <a:rPr lang="en" sz="1200">
                  <a:solidFill>
                    <a:srgbClr val="4ECDC4"/>
                  </a:solidFill>
                  <a:latin typeface="Arial"/>
                  <a:ea typeface="Arial"/>
                  <a:cs typeface="Arial"/>
                  <a:sym typeface="Arial"/>
                </a:rPr>
                <a:t>(Happy, Sad, Angry, Fear, Surprise, Disgust, Neutral)</a:t>
              </a:r>
              <a:endParaRPr sz="12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1" name="Google Shape;151;p9"/>
          <p:cNvGrpSpPr/>
          <p:nvPr/>
        </p:nvGrpSpPr>
        <p:grpSpPr>
          <a:xfrm>
            <a:off x="571500" y="1600200"/>
            <a:ext cx="8001000" cy="381000"/>
            <a:chOff x="571500" y="1600200"/>
            <a:chExt cx="8001000" cy="381000"/>
          </a:xfrm>
        </p:grpSpPr>
        <p:sp>
          <p:nvSpPr>
            <p:cNvPr id="152" name="Google Shape;152;p9"/>
            <p:cNvSpPr/>
            <p:nvPr/>
          </p:nvSpPr>
          <p:spPr>
            <a:xfrm>
              <a:off x="571500" y="1600200"/>
              <a:ext cx="8001000" cy="381000"/>
            </a:xfrm>
            <a:prstGeom prst="roundRect">
              <a:avLst>
                <a:gd fmla="val 20000" name="adj"/>
              </a:avLst>
            </a:prstGeom>
            <a:solidFill>
              <a:srgbClr val="1A202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9"/>
            <p:cNvSpPr/>
            <p:nvPr/>
          </p:nvSpPr>
          <p:spPr>
            <a:xfrm>
              <a:off x="571500" y="1600200"/>
              <a:ext cx="381000" cy="381000"/>
            </a:xfrm>
            <a:prstGeom prst="roundRect">
              <a:avLst>
                <a:gd fmla="val 20000" name="adj"/>
              </a:avLst>
            </a:prstGeom>
            <a:solidFill>
              <a:srgbClr val="4ECDC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9"/>
            <p:cNvSpPr txBox="1"/>
            <p:nvPr/>
          </p:nvSpPr>
          <p:spPr>
            <a:xfrm>
              <a:off x="571500" y="1600200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0F1419"/>
                  </a:solidFill>
                  <a:latin typeface="Arial"/>
                  <a:ea typeface="Arial"/>
                  <a:cs typeface="Arial"/>
                  <a:sym typeface="Arial"/>
                </a:rPr>
                <a:t>02</a:t>
              </a:r>
              <a:endParaRPr b="1" sz="1400">
                <a:solidFill>
                  <a:srgbClr val="0F141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9"/>
            <p:cNvSpPr txBox="1"/>
            <p:nvPr/>
          </p:nvSpPr>
          <p:spPr>
            <a:xfrm>
              <a:off x="1047750" y="1600200"/>
              <a:ext cx="7429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Resize all images to </a:t>
              </a:r>
              <a:r>
                <a:rPr b="1" lang="en" sz="12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96×96 pixels</a:t>
              </a:r>
              <a:r>
                <a:rPr lang="en" sz="12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 for uniform input</a:t>
              </a:r>
              <a:endParaRPr sz="12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6" name="Google Shape;156;p9"/>
          <p:cNvGrpSpPr/>
          <p:nvPr/>
        </p:nvGrpSpPr>
        <p:grpSpPr>
          <a:xfrm>
            <a:off x="571500" y="2057400"/>
            <a:ext cx="8001000" cy="381000"/>
            <a:chOff x="571500" y="2057400"/>
            <a:chExt cx="8001000" cy="381000"/>
          </a:xfrm>
        </p:grpSpPr>
        <p:sp>
          <p:nvSpPr>
            <p:cNvPr id="157" name="Google Shape;157;p9"/>
            <p:cNvSpPr/>
            <p:nvPr/>
          </p:nvSpPr>
          <p:spPr>
            <a:xfrm>
              <a:off x="571500" y="2057400"/>
              <a:ext cx="8001000" cy="381000"/>
            </a:xfrm>
            <a:prstGeom prst="roundRect">
              <a:avLst>
                <a:gd fmla="val 20000" name="adj"/>
              </a:avLst>
            </a:prstGeom>
            <a:solidFill>
              <a:srgbClr val="1A202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9"/>
            <p:cNvSpPr/>
            <p:nvPr/>
          </p:nvSpPr>
          <p:spPr>
            <a:xfrm>
              <a:off x="571500" y="2057400"/>
              <a:ext cx="381000" cy="381000"/>
            </a:xfrm>
            <a:prstGeom prst="roundRect">
              <a:avLst>
                <a:gd fmla="val 20000" name="adj"/>
              </a:avLst>
            </a:prstGeom>
            <a:solidFill>
              <a:srgbClr val="4ECDC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9"/>
            <p:cNvSpPr txBox="1"/>
            <p:nvPr/>
          </p:nvSpPr>
          <p:spPr>
            <a:xfrm>
              <a:off x="571500" y="2057400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0F1419"/>
                  </a:solidFill>
                  <a:latin typeface="Arial"/>
                  <a:ea typeface="Arial"/>
                  <a:cs typeface="Arial"/>
                  <a:sym typeface="Arial"/>
                </a:rPr>
                <a:t>03</a:t>
              </a:r>
              <a:endParaRPr b="1" sz="1400">
                <a:solidFill>
                  <a:srgbClr val="0F141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9"/>
            <p:cNvSpPr txBox="1"/>
            <p:nvPr/>
          </p:nvSpPr>
          <p:spPr>
            <a:xfrm>
              <a:off x="1047750" y="2057400"/>
              <a:ext cx="7429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Convert images to </a:t>
              </a:r>
              <a:r>
                <a:rPr b="1" lang="en" sz="12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numpy arrays</a:t>
              </a:r>
              <a:r>
                <a:rPr lang="en" sz="12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 for processing</a:t>
              </a:r>
              <a:endParaRPr sz="12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1" name="Google Shape;161;p9"/>
          <p:cNvGrpSpPr/>
          <p:nvPr/>
        </p:nvGrpSpPr>
        <p:grpSpPr>
          <a:xfrm>
            <a:off x="571500" y="2514600"/>
            <a:ext cx="8001000" cy="381000"/>
            <a:chOff x="571500" y="2514600"/>
            <a:chExt cx="8001000" cy="381000"/>
          </a:xfrm>
        </p:grpSpPr>
        <p:sp>
          <p:nvSpPr>
            <p:cNvPr id="162" name="Google Shape;162;p9"/>
            <p:cNvSpPr/>
            <p:nvPr/>
          </p:nvSpPr>
          <p:spPr>
            <a:xfrm>
              <a:off x="571500" y="2514600"/>
              <a:ext cx="8001000" cy="381000"/>
            </a:xfrm>
            <a:prstGeom prst="roundRect">
              <a:avLst>
                <a:gd fmla="val 20000" name="adj"/>
              </a:avLst>
            </a:prstGeom>
            <a:solidFill>
              <a:srgbClr val="1A202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9"/>
            <p:cNvSpPr/>
            <p:nvPr/>
          </p:nvSpPr>
          <p:spPr>
            <a:xfrm>
              <a:off x="571500" y="2514600"/>
              <a:ext cx="381000" cy="381000"/>
            </a:xfrm>
            <a:prstGeom prst="roundRect">
              <a:avLst>
                <a:gd fmla="val 20000" name="adj"/>
              </a:avLst>
            </a:prstGeom>
            <a:solidFill>
              <a:srgbClr val="4ECDC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9"/>
            <p:cNvSpPr txBox="1"/>
            <p:nvPr/>
          </p:nvSpPr>
          <p:spPr>
            <a:xfrm>
              <a:off x="571500" y="2514600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0F1419"/>
                  </a:solidFill>
                  <a:latin typeface="Arial"/>
                  <a:ea typeface="Arial"/>
                  <a:cs typeface="Arial"/>
                  <a:sym typeface="Arial"/>
                </a:rPr>
                <a:t>04</a:t>
              </a:r>
              <a:endParaRPr b="1" sz="1400">
                <a:solidFill>
                  <a:srgbClr val="0F141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9"/>
            <p:cNvSpPr txBox="1"/>
            <p:nvPr/>
          </p:nvSpPr>
          <p:spPr>
            <a:xfrm>
              <a:off x="1047750" y="2514600"/>
              <a:ext cx="7429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Normalize pixel values </a:t>
              </a:r>
              <a:r>
                <a:rPr i="1" lang="en" sz="12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(divide by 255.0)</a:t>
              </a:r>
              <a:endParaRPr sz="12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6" name="Google Shape;166;p9"/>
          <p:cNvGrpSpPr/>
          <p:nvPr/>
        </p:nvGrpSpPr>
        <p:grpSpPr>
          <a:xfrm>
            <a:off x="571500" y="2971800"/>
            <a:ext cx="8001000" cy="381000"/>
            <a:chOff x="571500" y="2971800"/>
            <a:chExt cx="8001000" cy="381000"/>
          </a:xfrm>
        </p:grpSpPr>
        <p:sp>
          <p:nvSpPr>
            <p:cNvPr id="167" name="Google Shape;167;p9"/>
            <p:cNvSpPr/>
            <p:nvPr/>
          </p:nvSpPr>
          <p:spPr>
            <a:xfrm>
              <a:off x="571500" y="2971800"/>
              <a:ext cx="8001000" cy="381000"/>
            </a:xfrm>
            <a:prstGeom prst="roundRect">
              <a:avLst>
                <a:gd fmla="val 20000" name="adj"/>
              </a:avLst>
            </a:prstGeom>
            <a:solidFill>
              <a:srgbClr val="1A202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9"/>
            <p:cNvSpPr/>
            <p:nvPr/>
          </p:nvSpPr>
          <p:spPr>
            <a:xfrm>
              <a:off x="571500" y="2971800"/>
              <a:ext cx="381000" cy="381000"/>
            </a:xfrm>
            <a:prstGeom prst="roundRect">
              <a:avLst>
                <a:gd fmla="val 20000" name="adj"/>
              </a:avLst>
            </a:prstGeom>
            <a:solidFill>
              <a:srgbClr val="4ECDC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9"/>
            <p:cNvSpPr txBox="1"/>
            <p:nvPr/>
          </p:nvSpPr>
          <p:spPr>
            <a:xfrm>
              <a:off x="571500" y="2971800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0F1419"/>
                  </a:solidFill>
                  <a:latin typeface="Arial"/>
                  <a:ea typeface="Arial"/>
                  <a:cs typeface="Arial"/>
                  <a:sym typeface="Arial"/>
                </a:rPr>
                <a:t>05</a:t>
              </a:r>
              <a:endParaRPr b="1" sz="1400">
                <a:solidFill>
                  <a:srgbClr val="0F141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9"/>
            <p:cNvSpPr txBox="1"/>
            <p:nvPr/>
          </p:nvSpPr>
          <p:spPr>
            <a:xfrm>
              <a:off x="1047750" y="2971800"/>
              <a:ext cx="7429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Create </a:t>
              </a:r>
              <a:r>
                <a:rPr b="1" lang="en" sz="12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label mappings</a:t>
              </a:r>
              <a:r>
                <a:rPr lang="en" sz="12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 for each emotion category</a:t>
              </a:r>
              <a:endParaRPr sz="12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1" name="Google Shape;171;p9"/>
          <p:cNvGrpSpPr/>
          <p:nvPr/>
        </p:nvGrpSpPr>
        <p:grpSpPr>
          <a:xfrm>
            <a:off x="571500" y="3429000"/>
            <a:ext cx="8001000" cy="381000"/>
            <a:chOff x="571500" y="3429000"/>
            <a:chExt cx="8001000" cy="381000"/>
          </a:xfrm>
        </p:grpSpPr>
        <p:sp>
          <p:nvSpPr>
            <p:cNvPr id="172" name="Google Shape;172;p9"/>
            <p:cNvSpPr/>
            <p:nvPr/>
          </p:nvSpPr>
          <p:spPr>
            <a:xfrm>
              <a:off x="571500" y="3429000"/>
              <a:ext cx="8001000" cy="381000"/>
            </a:xfrm>
            <a:prstGeom prst="roundRect">
              <a:avLst>
                <a:gd fmla="val 20000" name="adj"/>
              </a:avLst>
            </a:prstGeom>
            <a:solidFill>
              <a:srgbClr val="1A202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9"/>
            <p:cNvSpPr/>
            <p:nvPr/>
          </p:nvSpPr>
          <p:spPr>
            <a:xfrm>
              <a:off x="571500" y="3429000"/>
              <a:ext cx="381000" cy="381000"/>
            </a:xfrm>
            <a:prstGeom prst="roundRect">
              <a:avLst>
                <a:gd fmla="val 20000" name="adj"/>
              </a:avLst>
            </a:prstGeom>
            <a:solidFill>
              <a:srgbClr val="4ECDC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9"/>
            <p:cNvSpPr txBox="1"/>
            <p:nvPr/>
          </p:nvSpPr>
          <p:spPr>
            <a:xfrm>
              <a:off x="571500" y="3429000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0F1419"/>
                  </a:solidFill>
                  <a:latin typeface="Arial"/>
                  <a:ea typeface="Arial"/>
                  <a:cs typeface="Arial"/>
                  <a:sym typeface="Arial"/>
                </a:rPr>
                <a:t>06</a:t>
              </a:r>
              <a:endParaRPr b="1" sz="1400">
                <a:solidFill>
                  <a:srgbClr val="0F141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9"/>
            <p:cNvSpPr txBox="1"/>
            <p:nvPr/>
          </p:nvSpPr>
          <p:spPr>
            <a:xfrm>
              <a:off x="1047750" y="3429000"/>
              <a:ext cx="7429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Shuffle data randomly to improve </a:t>
              </a:r>
              <a:r>
                <a:rPr b="1" lang="en" sz="12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generalization</a:t>
              </a:r>
              <a:endParaRPr sz="12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6" name="Google Shape;176;p9"/>
          <p:cNvGrpSpPr/>
          <p:nvPr/>
        </p:nvGrpSpPr>
        <p:grpSpPr>
          <a:xfrm>
            <a:off x="571500" y="3886200"/>
            <a:ext cx="8001000" cy="381000"/>
            <a:chOff x="571500" y="3886200"/>
            <a:chExt cx="8001000" cy="381000"/>
          </a:xfrm>
        </p:grpSpPr>
        <p:sp>
          <p:nvSpPr>
            <p:cNvPr id="177" name="Google Shape;177;p9"/>
            <p:cNvSpPr/>
            <p:nvPr/>
          </p:nvSpPr>
          <p:spPr>
            <a:xfrm>
              <a:off x="571500" y="3886200"/>
              <a:ext cx="8001000" cy="381000"/>
            </a:xfrm>
            <a:prstGeom prst="roundRect">
              <a:avLst>
                <a:gd fmla="val 20000" name="adj"/>
              </a:avLst>
            </a:prstGeom>
            <a:solidFill>
              <a:srgbClr val="1A202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9"/>
            <p:cNvSpPr/>
            <p:nvPr/>
          </p:nvSpPr>
          <p:spPr>
            <a:xfrm>
              <a:off x="571500" y="3886200"/>
              <a:ext cx="381000" cy="381000"/>
            </a:xfrm>
            <a:prstGeom prst="roundRect">
              <a:avLst>
                <a:gd fmla="val 20000" name="adj"/>
              </a:avLst>
            </a:prstGeom>
            <a:solidFill>
              <a:srgbClr val="4ECDC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9"/>
            <p:cNvSpPr txBox="1"/>
            <p:nvPr/>
          </p:nvSpPr>
          <p:spPr>
            <a:xfrm>
              <a:off x="571500" y="3886200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0F1419"/>
                  </a:solidFill>
                  <a:latin typeface="Arial"/>
                  <a:ea typeface="Arial"/>
                  <a:cs typeface="Arial"/>
                  <a:sym typeface="Arial"/>
                </a:rPr>
                <a:t>07</a:t>
              </a:r>
              <a:endParaRPr b="1" sz="1400">
                <a:solidFill>
                  <a:srgbClr val="0F141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9"/>
            <p:cNvSpPr txBox="1"/>
            <p:nvPr/>
          </p:nvSpPr>
          <p:spPr>
            <a:xfrm>
              <a:off x="1047750" y="3886200"/>
              <a:ext cx="7429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Split into </a:t>
              </a:r>
              <a:r>
                <a:rPr b="1" lang="en" sz="1200">
                  <a:solidFill>
                    <a:srgbClr val="FF6B6B"/>
                  </a:solidFill>
                  <a:latin typeface="Arial"/>
                  <a:ea typeface="Arial"/>
                  <a:cs typeface="Arial"/>
                  <a:sym typeface="Arial"/>
                </a:rPr>
                <a:t>training (80%)</a:t>
              </a:r>
              <a:r>
                <a:rPr lang="en" sz="12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 and </a:t>
              </a:r>
              <a:r>
                <a:rPr b="1" lang="en" sz="1200">
                  <a:solidFill>
                    <a:srgbClr val="4ECDC4"/>
                  </a:solidFill>
                  <a:latin typeface="Arial"/>
                  <a:ea typeface="Arial"/>
                  <a:cs typeface="Arial"/>
                  <a:sym typeface="Arial"/>
                </a:rPr>
                <a:t>validation (20%)</a:t>
              </a:r>
              <a:r>
                <a:rPr lang="en" sz="12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 sets</a:t>
              </a:r>
              <a:endParaRPr sz="12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1" name="Google Shape;181;p9"/>
          <p:cNvSpPr/>
          <p:nvPr/>
        </p:nvSpPr>
        <p:spPr>
          <a:xfrm>
            <a:off x="0" y="4667250"/>
            <a:ext cx="9144000" cy="476400"/>
          </a:xfrm>
          <a:prstGeom prst="rect">
            <a:avLst/>
          </a:prstGeom>
          <a:solidFill>
            <a:srgbClr val="000000">
              <a:alpha val="3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9"/>
          <p:cNvSpPr txBox="1"/>
          <p:nvPr/>
        </p:nvSpPr>
        <p:spPr>
          <a:xfrm>
            <a:off x="381000" y="4667250"/>
            <a:ext cx="38100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Capstone Project Presentation</a:t>
            </a:r>
            <a:endParaRPr sz="1000">
              <a:solidFill>
                <a:srgbClr val="94A3B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9"/>
          <p:cNvSpPr txBox="1"/>
          <p:nvPr/>
        </p:nvSpPr>
        <p:spPr>
          <a:xfrm>
            <a:off x="6858000" y="4667250"/>
            <a:ext cx="19050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Poojashri K</a:t>
            </a:r>
            <a:endParaRPr b="1" sz="1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02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0"/>
          <p:cNvSpPr txBox="1"/>
          <p:nvPr/>
        </p:nvSpPr>
        <p:spPr>
          <a:xfrm>
            <a:off x="457200" y="133350"/>
            <a:ext cx="8229600" cy="63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525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4ECDC4"/>
                </a:solidFill>
                <a:latin typeface="Arial"/>
                <a:ea typeface="Arial"/>
                <a:cs typeface="Arial"/>
                <a:sym typeface="Arial"/>
              </a:rPr>
              <a:t>Technology Stack &amp; Frameworks</a:t>
            </a:r>
            <a:endParaRPr b="1" sz="3200">
              <a:solidFill>
                <a:srgbClr val="4ECDC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0" name="Google Shape;190;p10"/>
          <p:cNvGrpSpPr/>
          <p:nvPr/>
        </p:nvGrpSpPr>
        <p:grpSpPr>
          <a:xfrm>
            <a:off x="457200" y="1143000"/>
            <a:ext cx="2000100" cy="2190900"/>
            <a:chOff x="457200" y="1143000"/>
            <a:chExt cx="2000100" cy="2190900"/>
          </a:xfrm>
        </p:grpSpPr>
        <p:sp>
          <p:nvSpPr>
            <p:cNvPr id="191" name="Google Shape;191;p10"/>
            <p:cNvSpPr/>
            <p:nvPr/>
          </p:nvSpPr>
          <p:spPr>
            <a:xfrm>
              <a:off x="457200" y="1143000"/>
              <a:ext cx="2000100" cy="2190900"/>
            </a:xfrm>
            <a:prstGeom prst="roundRect">
              <a:avLst>
                <a:gd fmla="val 5714" name="adj"/>
              </a:avLst>
            </a:prstGeom>
            <a:solidFill>
              <a:srgbClr val="1A202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10"/>
            <p:cNvSpPr txBox="1"/>
            <p:nvPr/>
          </p:nvSpPr>
          <p:spPr>
            <a:xfrm>
              <a:off x="457200" y="1143000"/>
              <a:ext cx="2000100" cy="219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FF6B6B"/>
                  </a:solidFill>
                  <a:latin typeface="Arial"/>
                  <a:ea typeface="Arial"/>
                  <a:cs typeface="Arial"/>
                  <a:sym typeface="Arial"/>
                </a:rPr>
                <a:t>Keras</a:t>
              </a:r>
              <a:endParaRPr b="1" sz="1600">
                <a:solidFill>
                  <a:srgbClr val="FF6B6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4ECDC4"/>
                  </a:solidFill>
                  <a:latin typeface="Arial"/>
                  <a:ea typeface="Arial"/>
                  <a:cs typeface="Arial"/>
                  <a:sym typeface="Arial"/>
                </a:rPr>
                <a:t>Deep Learning API</a:t>
              </a:r>
              <a:endParaRPr b="1" sz="1100">
                <a:solidFill>
                  <a:srgbClr val="4ECDC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210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CBD5E1"/>
                </a:buClr>
                <a:buSzPts val="1000"/>
                <a:buFont typeface="Arial"/>
                <a:buChar char="●"/>
              </a:pPr>
              <a:r>
                <a:rPr lang="en" sz="10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Architected Sequential model</a:t>
              </a:r>
              <a:endParaRPr sz="10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210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CBD5E1"/>
                </a:buClr>
                <a:buSzPts val="1000"/>
                <a:buFont typeface="Arial"/>
                <a:buChar char="●"/>
              </a:pPr>
              <a:r>
                <a:rPr lang="en" sz="10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Stacked Conv2D and Dense layers</a:t>
              </a:r>
              <a:endParaRPr sz="10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210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CBD5E1"/>
                </a:buClr>
                <a:buSzPts val="1000"/>
                <a:buFont typeface="Arial"/>
                <a:buChar char="●"/>
              </a:pPr>
              <a:r>
                <a:rPr lang="en" sz="10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Simple, readable API</a:t>
              </a:r>
              <a:endParaRPr sz="10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3" name="Google Shape;193;p10"/>
          <p:cNvGrpSpPr/>
          <p:nvPr/>
        </p:nvGrpSpPr>
        <p:grpSpPr>
          <a:xfrm>
            <a:off x="2571750" y="1143000"/>
            <a:ext cx="2000100" cy="2190900"/>
            <a:chOff x="2571750" y="1143000"/>
            <a:chExt cx="2000100" cy="2190900"/>
          </a:xfrm>
        </p:grpSpPr>
        <p:sp>
          <p:nvSpPr>
            <p:cNvPr id="194" name="Google Shape;194;p10"/>
            <p:cNvSpPr/>
            <p:nvPr/>
          </p:nvSpPr>
          <p:spPr>
            <a:xfrm>
              <a:off x="2571750" y="1143000"/>
              <a:ext cx="2000100" cy="2190900"/>
            </a:xfrm>
            <a:prstGeom prst="roundRect">
              <a:avLst>
                <a:gd fmla="val 5714" name="adj"/>
              </a:avLst>
            </a:prstGeom>
            <a:solidFill>
              <a:srgbClr val="1A202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10"/>
            <p:cNvSpPr txBox="1"/>
            <p:nvPr/>
          </p:nvSpPr>
          <p:spPr>
            <a:xfrm>
              <a:off x="2571750" y="1143000"/>
              <a:ext cx="2000100" cy="219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FF6B6B"/>
                  </a:solidFill>
                  <a:latin typeface="Arial"/>
                  <a:ea typeface="Arial"/>
                  <a:cs typeface="Arial"/>
                  <a:sym typeface="Arial"/>
                </a:rPr>
                <a:t>TensorFlow</a:t>
              </a:r>
              <a:endParaRPr b="1" sz="1600">
                <a:solidFill>
                  <a:srgbClr val="FF6B6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4ECDC4"/>
                  </a:solidFill>
                  <a:latin typeface="Arial"/>
                  <a:ea typeface="Arial"/>
                  <a:cs typeface="Arial"/>
                  <a:sym typeface="Arial"/>
                </a:rPr>
                <a:t>Backend Engine</a:t>
              </a:r>
              <a:endParaRPr b="1" sz="1100">
                <a:solidFill>
                  <a:srgbClr val="4ECDC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210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CBD5E1"/>
                </a:buClr>
                <a:buSzPts val="1000"/>
                <a:buFont typeface="Arial"/>
                <a:buChar char="●"/>
              </a:pPr>
              <a:r>
                <a:rPr lang="en" sz="10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Heavy math computation</a:t>
              </a:r>
              <a:endParaRPr sz="10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210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CBD5E1"/>
                </a:buClr>
                <a:buSzPts val="1000"/>
                <a:buFont typeface="Arial"/>
                <a:buChar char="●"/>
              </a:pPr>
              <a:r>
                <a:rPr lang="en" sz="10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Adam optimizer execution</a:t>
              </a:r>
              <a:endParaRPr sz="10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210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CBD5E1"/>
                </a:buClr>
                <a:buSzPts val="1000"/>
                <a:buFont typeface="Arial"/>
                <a:buChar char="●"/>
              </a:pPr>
              <a:r>
                <a:rPr lang="en" sz="10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Reached 84% accuracy</a:t>
              </a:r>
              <a:endParaRPr sz="10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6" name="Google Shape;196;p10"/>
          <p:cNvGrpSpPr/>
          <p:nvPr/>
        </p:nvGrpSpPr>
        <p:grpSpPr>
          <a:xfrm>
            <a:off x="4686300" y="1143000"/>
            <a:ext cx="2000100" cy="2190900"/>
            <a:chOff x="4686300" y="1143000"/>
            <a:chExt cx="2000100" cy="2190900"/>
          </a:xfrm>
        </p:grpSpPr>
        <p:sp>
          <p:nvSpPr>
            <p:cNvPr id="197" name="Google Shape;197;p10"/>
            <p:cNvSpPr/>
            <p:nvPr/>
          </p:nvSpPr>
          <p:spPr>
            <a:xfrm>
              <a:off x="4686300" y="1143000"/>
              <a:ext cx="2000100" cy="2190900"/>
            </a:xfrm>
            <a:prstGeom prst="roundRect">
              <a:avLst>
                <a:gd fmla="val 5714" name="adj"/>
              </a:avLst>
            </a:prstGeom>
            <a:solidFill>
              <a:srgbClr val="1A202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10"/>
            <p:cNvSpPr txBox="1"/>
            <p:nvPr/>
          </p:nvSpPr>
          <p:spPr>
            <a:xfrm>
              <a:off x="4686300" y="1143000"/>
              <a:ext cx="2000100" cy="219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80">
                  <a:solidFill>
                    <a:srgbClr val="FF6B6B"/>
                  </a:solidFill>
                  <a:latin typeface="Arial"/>
                  <a:ea typeface="Arial"/>
                  <a:cs typeface="Arial"/>
                  <a:sym typeface="Arial"/>
                </a:rPr>
                <a:t>OpenCV</a:t>
              </a:r>
              <a:endParaRPr b="1" sz="1480">
                <a:solidFill>
                  <a:srgbClr val="FF6B6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 sz="1018">
                  <a:solidFill>
                    <a:srgbClr val="4ECDC4"/>
                  </a:solidFill>
                  <a:latin typeface="Arial"/>
                  <a:ea typeface="Arial"/>
                  <a:cs typeface="Arial"/>
                  <a:sym typeface="Arial"/>
                </a:rPr>
                <a:t>Computer Vision</a:t>
              </a:r>
              <a:endParaRPr b="1" sz="1018">
                <a:solidFill>
                  <a:srgbClr val="4ECDC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87338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CBD5E1"/>
                </a:buClr>
                <a:buSzPts val="925"/>
                <a:buFont typeface="Arial"/>
                <a:buChar char="●"/>
              </a:pPr>
              <a:r>
                <a:rPr lang="en" sz="925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Real-time webcam stream</a:t>
              </a:r>
              <a:endParaRPr sz="925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87338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CBD5E1"/>
                </a:buClr>
                <a:buSzPts val="925"/>
                <a:buFont typeface="Arial"/>
                <a:buChar char="●"/>
              </a:pPr>
              <a:r>
                <a:rPr lang="en" sz="925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Face detection (Haar Cascades)</a:t>
              </a:r>
              <a:endParaRPr sz="925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87338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CBD5E1"/>
                </a:buClr>
                <a:buSzPts val="925"/>
                <a:buFont typeface="Arial"/>
                <a:buChar char="●"/>
              </a:pPr>
              <a:r>
                <a:rPr lang="en" sz="925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Image preprocessing (96x96)</a:t>
              </a:r>
              <a:endParaRPr sz="925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9" name="Google Shape;199;p10"/>
          <p:cNvGrpSpPr/>
          <p:nvPr/>
        </p:nvGrpSpPr>
        <p:grpSpPr>
          <a:xfrm>
            <a:off x="6800850" y="1143000"/>
            <a:ext cx="1886100" cy="2190900"/>
            <a:chOff x="6800850" y="1143000"/>
            <a:chExt cx="1886100" cy="2190900"/>
          </a:xfrm>
        </p:grpSpPr>
        <p:sp>
          <p:nvSpPr>
            <p:cNvPr id="200" name="Google Shape;200;p10"/>
            <p:cNvSpPr/>
            <p:nvPr/>
          </p:nvSpPr>
          <p:spPr>
            <a:xfrm>
              <a:off x="6800850" y="1143000"/>
              <a:ext cx="1886100" cy="2190900"/>
            </a:xfrm>
            <a:prstGeom prst="roundRect">
              <a:avLst>
                <a:gd fmla="val 6060" name="adj"/>
              </a:avLst>
            </a:prstGeom>
            <a:solidFill>
              <a:srgbClr val="1A202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10"/>
            <p:cNvSpPr txBox="1"/>
            <p:nvPr/>
          </p:nvSpPr>
          <p:spPr>
            <a:xfrm>
              <a:off x="6800850" y="1143000"/>
              <a:ext cx="1886100" cy="219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80">
                  <a:solidFill>
                    <a:srgbClr val="FF6B6B"/>
                  </a:solidFill>
                  <a:latin typeface="Arial"/>
                  <a:ea typeface="Arial"/>
                  <a:cs typeface="Arial"/>
                  <a:sym typeface="Arial"/>
                </a:rPr>
                <a:t>Supporting Libs</a:t>
              </a:r>
              <a:endParaRPr b="1" sz="1480">
                <a:solidFill>
                  <a:srgbClr val="FF6B6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 sz="1018">
                  <a:solidFill>
                    <a:srgbClr val="4ECDC4"/>
                  </a:solidFill>
                  <a:latin typeface="Arial"/>
                  <a:ea typeface="Arial"/>
                  <a:cs typeface="Arial"/>
                  <a:sym typeface="Arial"/>
                </a:rPr>
                <a:t>Data &amp; Analytics</a:t>
              </a:r>
              <a:endParaRPr b="1" sz="1018">
                <a:solidFill>
                  <a:srgbClr val="4ECDC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81464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CBD5E1"/>
                </a:buClr>
                <a:buSzPts val="833"/>
                <a:buFont typeface="Arial"/>
                <a:buChar char="●"/>
              </a:pPr>
              <a:r>
                <a:rPr b="1" lang="en" sz="833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NumPy:</a:t>
              </a:r>
              <a:r>
                <a:rPr lang="en" sz="833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 Matrix &amp; normalization</a:t>
              </a:r>
              <a:endParaRPr sz="833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81464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CBD5E1"/>
                </a:buClr>
                <a:buSzPts val="833"/>
                <a:buFont typeface="Arial"/>
                <a:buChar char="●"/>
              </a:pPr>
              <a:r>
                <a:rPr b="1" lang="en" sz="833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Matplotlib:</a:t>
              </a:r>
              <a:r>
                <a:rPr lang="en" sz="833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 Accuracy curves</a:t>
              </a:r>
              <a:endParaRPr sz="833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81464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CBD5E1"/>
                </a:buClr>
                <a:buSzPts val="833"/>
                <a:buFont typeface="Arial"/>
                <a:buChar char="●"/>
              </a:pPr>
              <a:r>
                <a:rPr b="1" lang="en" sz="833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Scikit-learn:</a:t>
              </a:r>
              <a:r>
                <a:rPr lang="en" sz="833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 Reports &amp; Confusion Matrix</a:t>
              </a:r>
              <a:endParaRPr sz="833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2" name="Google Shape;202;p10"/>
          <p:cNvGrpSpPr/>
          <p:nvPr/>
        </p:nvGrpSpPr>
        <p:grpSpPr>
          <a:xfrm>
            <a:off x="457200" y="3524250"/>
            <a:ext cx="8229600" cy="952500"/>
            <a:chOff x="457200" y="3524250"/>
            <a:chExt cx="8229600" cy="952500"/>
          </a:xfrm>
        </p:grpSpPr>
        <p:sp>
          <p:nvSpPr>
            <p:cNvPr id="203" name="Google Shape;203;p10"/>
            <p:cNvSpPr/>
            <p:nvPr/>
          </p:nvSpPr>
          <p:spPr>
            <a:xfrm>
              <a:off x="457200" y="3524250"/>
              <a:ext cx="8229600" cy="952500"/>
            </a:xfrm>
            <a:prstGeom prst="roundRect">
              <a:avLst>
                <a:gd fmla="val 8000" name="adj"/>
              </a:avLst>
            </a:prstGeom>
            <a:solidFill>
              <a:srgbClr val="1A202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10"/>
            <p:cNvSpPr txBox="1"/>
            <p:nvPr/>
          </p:nvSpPr>
          <p:spPr>
            <a:xfrm>
              <a:off x="457200" y="3524250"/>
              <a:ext cx="82296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42875" lIns="142875" spcFirstLastPara="1" rIns="142875" wrap="square" tIns="1428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4ECDC4"/>
                  </a:solidFill>
                  <a:latin typeface="Arial"/>
                  <a:ea typeface="Arial"/>
                  <a:cs typeface="Arial"/>
                  <a:sym typeface="Arial"/>
                </a:rPr>
                <a:t>Summary of Roles</a:t>
              </a:r>
              <a:endParaRPr b="1" sz="1300">
                <a:solidFill>
                  <a:srgbClr val="4ECDC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FF6B6B"/>
                  </a:solidFill>
                  <a:latin typeface="Arial"/>
                  <a:ea typeface="Arial"/>
                  <a:cs typeface="Arial"/>
                  <a:sym typeface="Arial"/>
                </a:rPr>
                <a:t>Keras</a:t>
              </a:r>
              <a:r>
                <a:rPr lang="en" sz="10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 (Design) • </a:t>
              </a:r>
              <a:r>
                <a:rPr b="1" lang="en" sz="1000">
                  <a:solidFill>
                    <a:srgbClr val="FF6B6B"/>
                  </a:solidFill>
                  <a:latin typeface="Arial"/>
                  <a:ea typeface="Arial"/>
                  <a:cs typeface="Arial"/>
                  <a:sym typeface="Arial"/>
                </a:rPr>
                <a:t>TensorFlow</a:t>
              </a:r>
              <a:r>
                <a:rPr lang="en" sz="10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 (Computation) • </a:t>
              </a:r>
              <a:r>
                <a:rPr b="1" lang="en" sz="1000">
                  <a:solidFill>
                    <a:srgbClr val="FF6B6B"/>
                  </a:solidFill>
                  <a:latin typeface="Arial"/>
                  <a:ea typeface="Arial"/>
                  <a:cs typeface="Arial"/>
                  <a:sym typeface="Arial"/>
                </a:rPr>
                <a:t>OpenCV</a:t>
              </a:r>
              <a:r>
                <a:rPr lang="en" sz="10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 (Vision) • </a:t>
              </a:r>
              <a:r>
                <a:rPr b="1" lang="en" sz="1000">
                  <a:solidFill>
                    <a:srgbClr val="FF6B6B"/>
                  </a:solidFill>
                  <a:latin typeface="Arial"/>
                  <a:ea typeface="Arial"/>
                  <a:cs typeface="Arial"/>
                  <a:sym typeface="Arial"/>
                </a:rPr>
                <a:t>NumPy</a:t>
              </a:r>
              <a:r>
                <a:rPr lang="en" sz="10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 (Data)</a:t>
              </a:r>
              <a:endParaRPr sz="10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5" name="Google Shape;205;p10"/>
          <p:cNvSpPr/>
          <p:nvPr/>
        </p:nvSpPr>
        <p:spPr>
          <a:xfrm>
            <a:off x="0" y="4667250"/>
            <a:ext cx="9144000" cy="476400"/>
          </a:xfrm>
          <a:prstGeom prst="rect">
            <a:avLst/>
          </a:prstGeom>
          <a:solidFill>
            <a:srgbClr val="000000">
              <a:alpha val="3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6" name="Google Shape;206;p10"/>
          <p:cNvGrpSpPr/>
          <p:nvPr/>
        </p:nvGrpSpPr>
        <p:grpSpPr>
          <a:xfrm>
            <a:off x="381000" y="4667250"/>
            <a:ext cx="8382000" cy="476400"/>
            <a:chOff x="381000" y="4667250"/>
            <a:chExt cx="8382000" cy="476400"/>
          </a:xfrm>
        </p:grpSpPr>
        <p:sp>
          <p:nvSpPr>
            <p:cNvPr id="207" name="Google Shape;207;p10"/>
            <p:cNvSpPr txBox="1"/>
            <p:nvPr/>
          </p:nvSpPr>
          <p:spPr>
            <a:xfrm>
              <a:off x="381000" y="4667250"/>
              <a:ext cx="3810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94A3B8"/>
                  </a:solidFill>
                  <a:latin typeface="Arial"/>
                  <a:ea typeface="Arial"/>
                  <a:cs typeface="Arial"/>
                  <a:sym typeface="Arial"/>
                </a:rPr>
                <a:t>Capstone Project Presentation</a:t>
              </a:r>
              <a:endParaRPr sz="10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10"/>
            <p:cNvSpPr txBox="1"/>
            <p:nvPr/>
          </p:nvSpPr>
          <p:spPr>
            <a:xfrm>
              <a:off x="6858000" y="4667250"/>
              <a:ext cx="1905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Poojashri K</a:t>
              </a:r>
              <a:endParaRPr b="1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02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1"/>
          <p:cNvSpPr/>
          <p:nvPr/>
        </p:nvSpPr>
        <p:spPr>
          <a:xfrm>
            <a:off x="457200" y="137160"/>
            <a:ext cx="8229600" cy="640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9525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4ECDC4"/>
                </a:solidFill>
                <a:latin typeface="Arial"/>
                <a:ea typeface="Arial"/>
                <a:cs typeface="Arial"/>
                <a:sym typeface="Arial"/>
              </a:rPr>
              <a:t>Model Selection: Why CNN?</a:t>
            </a:r>
            <a:endParaRPr b="1" sz="3200">
              <a:solidFill>
                <a:srgbClr val="4ECDC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6" name="Google Shape;216;p11"/>
          <p:cNvGrpSpPr/>
          <p:nvPr/>
        </p:nvGrpSpPr>
        <p:grpSpPr>
          <a:xfrm>
            <a:off x="457200" y="1047750"/>
            <a:ext cx="8229600" cy="3349752"/>
            <a:chOff x="457200" y="1047750"/>
            <a:chExt cx="8229600" cy="3349752"/>
          </a:xfrm>
        </p:grpSpPr>
        <p:grpSp>
          <p:nvGrpSpPr>
            <p:cNvPr id="217" name="Google Shape;217;p11"/>
            <p:cNvGrpSpPr/>
            <p:nvPr/>
          </p:nvGrpSpPr>
          <p:grpSpPr>
            <a:xfrm>
              <a:off x="457200" y="1047750"/>
              <a:ext cx="8229600" cy="606552"/>
              <a:chOff x="457200" y="1047750"/>
              <a:chExt cx="8229600" cy="606552"/>
            </a:xfrm>
          </p:grpSpPr>
          <p:sp>
            <p:nvSpPr>
              <p:cNvPr id="218" name="Google Shape;218;p11"/>
              <p:cNvSpPr/>
              <p:nvPr/>
            </p:nvSpPr>
            <p:spPr>
              <a:xfrm>
                <a:off x="457200" y="1047750"/>
                <a:ext cx="8229600" cy="571500"/>
              </a:xfrm>
              <a:prstGeom prst="roundRect">
                <a:avLst>
                  <a:gd fmla="val 13333" name="adj"/>
                </a:avLst>
              </a:prstGeom>
              <a:solidFill>
                <a:srgbClr val="1A202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" name="Google Shape;219;p11"/>
              <p:cNvSpPr/>
              <p:nvPr/>
            </p:nvSpPr>
            <p:spPr>
              <a:xfrm>
                <a:off x="457200" y="1047750"/>
                <a:ext cx="571500" cy="571500"/>
              </a:xfrm>
              <a:prstGeom prst="roundRect">
                <a:avLst>
                  <a:gd fmla="val 13333" name="adj"/>
                </a:avLst>
              </a:prstGeom>
              <a:solidFill>
                <a:srgbClr val="4ECDC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" name="Google Shape;220;p11"/>
              <p:cNvSpPr txBox="1"/>
              <p:nvPr/>
            </p:nvSpPr>
            <p:spPr>
              <a:xfrm>
                <a:off x="457200" y="1082802"/>
                <a:ext cx="5715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400">
                    <a:solidFill>
                      <a:srgbClr val="1A2026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image_search</a:t>
                </a:r>
                <a:endParaRPr sz="2400">
                  <a:solidFill>
                    <a:srgbClr val="1A2026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221" name="Google Shape;221;p11"/>
              <p:cNvSpPr txBox="1"/>
              <p:nvPr/>
            </p:nvSpPr>
            <p:spPr>
              <a:xfrm>
                <a:off x="1143000" y="1047750"/>
                <a:ext cx="73344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FF6B6B"/>
                    </a:solidFill>
                    <a:latin typeface="Arial"/>
                    <a:ea typeface="Arial"/>
                    <a:cs typeface="Arial"/>
                    <a:sym typeface="Arial"/>
                  </a:rPr>
                  <a:t>Spatial Feature Extraction:</a:t>
                </a:r>
                <a:r>
                  <a:rPr lang="en" sz="1300">
                    <a:solidFill>
                      <a:srgbClr val="CBD5E1"/>
                    </a:solidFill>
                    <a:latin typeface="Arial"/>
                    <a:ea typeface="Arial"/>
                    <a:cs typeface="Arial"/>
                    <a:sym typeface="Arial"/>
                  </a:rPr>
                  <a:t> Excellent at identifying edges, textures, and complex patterns directly from images.</a:t>
                </a:r>
                <a:endParaRPr sz="13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22" name="Google Shape;222;p11"/>
            <p:cNvGrpSpPr/>
            <p:nvPr/>
          </p:nvGrpSpPr>
          <p:grpSpPr>
            <a:xfrm>
              <a:off x="457200" y="1733550"/>
              <a:ext cx="8229600" cy="606552"/>
              <a:chOff x="457200" y="1733550"/>
              <a:chExt cx="8229600" cy="606552"/>
            </a:xfrm>
          </p:grpSpPr>
          <p:sp>
            <p:nvSpPr>
              <p:cNvPr id="223" name="Google Shape;223;p11"/>
              <p:cNvSpPr/>
              <p:nvPr/>
            </p:nvSpPr>
            <p:spPr>
              <a:xfrm>
                <a:off x="457200" y="1733550"/>
                <a:ext cx="8229600" cy="571500"/>
              </a:xfrm>
              <a:prstGeom prst="roundRect">
                <a:avLst>
                  <a:gd fmla="val 13333" name="adj"/>
                </a:avLst>
              </a:prstGeom>
              <a:solidFill>
                <a:srgbClr val="1A202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" name="Google Shape;224;p11"/>
              <p:cNvSpPr/>
              <p:nvPr/>
            </p:nvSpPr>
            <p:spPr>
              <a:xfrm>
                <a:off x="457200" y="1733550"/>
                <a:ext cx="571500" cy="571500"/>
              </a:xfrm>
              <a:prstGeom prst="roundRect">
                <a:avLst>
                  <a:gd fmla="val 13333" name="adj"/>
                </a:avLst>
              </a:prstGeom>
              <a:solidFill>
                <a:srgbClr val="4ECDC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 txBox="1"/>
              <p:nvPr/>
            </p:nvSpPr>
            <p:spPr>
              <a:xfrm>
                <a:off x="457200" y="1768602"/>
                <a:ext cx="5715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400">
                    <a:solidFill>
                      <a:srgbClr val="1A2026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hub</a:t>
                </a:r>
                <a:endParaRPr sz="2400">
                  <a:solidFill>
                    <a:srgbClr val="1A2026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226" name="Google Shape;226;p11"/>
              <p:cNvSpPr txBox="1"/>
              <p:nvPr/>
            </p:nvSpPr>
            <p:spPr>
              <a:xfrm>
                <a:off x="1143000" y="1733550"/>
                <a:ext cx="73344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FF6B6B"/>
                    </a:solidFill>
                    <a:latin typeface="Arial"/>
                    <a:ea typeface="Arial"/>
                    <a:cs typeface="Arial"/>
                    <a:sym typeface="Arial"/>
                  </a:rPr>
                  <a:t>Local Connectivity:</a:t>
                </a:r>
                <a:r>
                  <a:rPr lang="en" sz="1300">
                    <a:solidFill>
                      <a:srgbClr val="CBD5E1"/>
                    </a:solidFill>
                    <a:latin typeface="Arial"/>
                    <a:ea typeface="Arial"/>
                    <a:cs typeface="Arial"/>
                    <a:sym typeface="Arial"/>
                  </a:rPr>
                  <a:t> Drastically reduces the number of parameters compared to fully connected layers, preventing overfitting.</a:t>
                </a:r>
                <a:endParaRPr sz="13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27" name="Google Shape;227;p11"/>
            <p:cNvGrpSpPr/>
            <p:nvPr/>
          </p:nvGrpSpPr>
          <p:grpSpPr>
            <a:xfrm>
              <a:off x="457200" y="2419350"/>
              <a:ext cx="8229600" cy="606552"/>
              <a:chOff x="457200" y="2419350"/>
              <a:chExt cx="8229600" cy="606552"/>
            </a:xfrm>
          </p:grpSpPr>
          <p:sp>
            <p:nvSpPr>
              <p:cNvPr id="228" name="Google Shape;228;p11"/>
              <p:cNvSpPr/>
              <p:nvPr/>
            </p:nvSpPr>
            <p:spPr>
              <a:xfrm>
                <a:off x="457200" y="2419350"/>
                <a:ext cx="8229600" cy="571500"/>
              </a:xfrm>
              <a:prstGeom prst="roundRect">
                <a:avLst>
                  <a:gd fmla="val 13333" name="adj"/>
                </a:avLst>
              </a:prstGeom>
              <a:solidFill>
                <a:srgbClr val="1A202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9" name="Google Shape;229;p11"/>
              <p:cNvSpPr/>
              <p:nvPr/>
            </p:nvSpPr>
            <p:spPr>
              <a:xfrm>
                <a:off x="457200" y="2419350"/>
                <a:ext cx="571500" cy="571500"/>
              </a:xfrm>
              <a:prstGeom prst="roundRect">
                <a:avLst>
                  <a:gd fmla="val 13333" name="adj"/>
                </a:avLst>
              </a:prstGeom>
              <a:solidFill>
                <a:srgbClr val="4ECDC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 txBox="1"/>
              <p:nvPr/>
            </p:nvSpPr>
            <p:spPr>
              <a:xfrm>
                <a:off x="457200" y="2454402"/>
                <a:ext cx="5715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400">
                    <a:solidFill>
                      <a:srgbClr val="1A2026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share</a:t>
                </a:r>
                <a:endParaRPr sz="2400">
                  <a:solidFill>
                    <a:srgbClr val="1A2026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231" name="Google Shape;231;p11"/>
              <p:cNvSpPr txBox="1"/>
              <p:nvPr/>
            </p:nvSpPr>
            <p:spPr>
              <a:xfrm>
                <a:off x="1143000" y="2419350"/>
                <a:ext cx="73344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FF6B6B"/>
                    </a:solidFill>
                    <a:latin typeface="Arial"/>
                    <a:ea typeface="Arial"/>
                    <a:cs typeface="Arial"/>
                    <a:sym typeface="Arial"/>
                  </a:rPr>
                  <a:t>Weight Sharing:</a:t>
                </a:r>
                <a:r>
                  <a:rPr lang="en" sz="1300">
                    <a:solidFill>
                      <a:srgbClr val="CBD5E1"/>
                    </a:solidFill>
                    <a:latin typeface="Arial"/>
                    <a:ea typeface="Arial"/>
                    <a:cs typeface="Arial"/>
                    <a:sym typeface="Arial"/>
                  </a:rPr>
                  <a:t> Enhances computational efficiency for large-scale image recognition tasks by reusing filter weights.</a:t>
                </a:r>
                <a:endParaRPr sz="13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2" name="Google Shape;232;p11"/>
            <p:cNvGrpSpPr/>
            <p:nvPr/>
          </p:nvGrpSpPr>
          <p:grpSpPr>
            <a:xfrm>
              <a:off x="457200" y="3105150"/>
              <a:ext cx="8229600" cy="606552"/>
              <a:chOff x="457200" y="3105150"/>
              <a:chExt cx="8229600" cy="606552"/>
            </a:xfrm>
          </p:grpSpPr>
          <p:sp>
            <p:nvSpPr>
              <p:cNvPr id="233" name="Google Shape;233;p11"/>
              <p:cNvSpPr/>
              <p:nvPr/>
            </p:nvSpPr>
            <p:spPr>
              <a:xfrm>
                <a:off x="457200" y="3105150"/>
                <a:ext cx="8229600" cy="571500"/>
              </a:xfrm>
              <a:prstGeom prst="roundRect">
                <a:avLst>
                  <a:gd fmla="val 13333" name="adj"/>
                </a:avLst>
              </a:prstGeom>
              <a:solidFill>
                <a:srgbClr val="1A202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" name="Google Shape;234;p11"/>
              <p:cNvSpPr/>
              <p:nvPr/>
            </p:nvSpPr>
            <p:spPr>
              <a:xfrm>
                <a:off x="457200" y="3105150"/>
                <a:ext cx="571500" cy="571500"/>
              </a:xfrm>
              <a:prstGeom prst="roundRect">
                <a:avLst>
                  <a:gd fmla="val 13333" name="adj"/>
                </a:avLst>
              </a:prstGeom>
              <a:solidFill>
                <a:srgbClr val="4ECDC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" name="Google Shape;235;p11"/>
              <p:cNvSpPr txBox="1"/>
              <p:nvPr/>
            </p:nvSpPr>
            <p:spPr>
              <a:xfrm>
                <a:off x="457200" y="3140202"/>
                <a:ext cx="5715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400">
                    <a:solidFill>
                      <a:srgbClr val="1A2026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face</a:t>
                </a:r>
                <a:endParaRPr sz="2400">
                  <a:solidFill>
                    <a:srgbClr val="1A2026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236" name="Google Shape;236;p11"/>
              <p:cNvSpPr txBox="1"/>
              <p:nvPr/>
            </p:nvSpPr>
            <p:spPr>
              <a:xfrm>
                <a:off x="1143000" y="3105150"/>
                <a:ext cx="73344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FF6B6B"/>
                    </a:solidFill>
                    <a:latin typeface="Arial"/>
                    <a:ea typeface="Arial"/>
                    <a:cs typeface="Arial"/>
                    <a:sym typeface="Arial"/>
                  </a:rPr>
                  <a:t>Proven Performance:</a:t>
                </a:r>
                <a:r>
                  <a:rPr lang="en" sz="1300">
                    <a:solidFill>
                      <a:srgbClr val="CBD5E1"/>
                    </a:solidFill>
                    <a:latin typeface="Arial"/>
                    <a:ea typeface="Arial"/>
                    <a:cs typeface="Arial"/>
                    <a:sym typeface="Arial"/>
                  </a:rPr>
                  <a:t> State-of-the-art results in facial recognition and automated emotion detection benchmarks.</a:t>
                </a:r>
                <a:endParaRPr sz="13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7" name="Google Shape;237;p11"/>
            <p:cNvGrpSpPr/>
            <p:nvPr/>
          </p:nvGrpSpPr>
          <p:grpSpPr>
            <a:xfrm>
              <a:off x="457200" y="3790950"/>
              <a:ext cx="8229600" cy="606552"/>
              <a:chOff x="457200" y="3790950"/>
              <a:chExt cx="8229600" cy="606552"/>
            </a:xfrm>
          </p:grpSpPr>
          <p:sp>
            <p:nvSpPr>
              <p:cNvPr id="238" name="Google Shape;238;p11"/>
              <p:cNvSpPr/>
              <p:nvPr/>
            </p:nvSpPr>
            <p:spPr>
              <a:xfrm>
                <a:off x="457200" y="3790950"/>
                <a:ext cx="8229600" cy="571500"/>
              </a:xfrm>
              <a:prstGeom prst="roundRect">
                <a:avLst>
                  <a:gd fmla="val 13333" name="adj"/>
                </a:avLst>
              </a:prstGeom>
              <a:solidFill>
                <a:srgbClr val="1A202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" name="Google Shape;239;p11"/>
              <p:cNvSpPr/>
              <p:nvPr/>
            </p:nvSpPr>
            <p:spPr>
              <a:xfrm>
                <a:off x="457200" y="3790950"/>
                <a:ext cx="571500" cy="571500"/>
              </a:xfrm>
              <a:prstGeom prst="roundRect">
                <a:avLst>
                  <a:gd fmla="val 13333" name="adj"/>
                </a:avLst>
              </a:prstGeom>
              <a:solidFill>
                <a:srgbClr val="4ECDC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0" name="Google Shape;240;p11"/>
              <p:cNvSpPr txBox="1"/>
              <p:nvPr/>
            </p:nvSpPr>
            <p:spPr>
              <a:xfrm>
                <a:off x="457200" y="3826002"/>
                <a:ext cx="5715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400">
                    <a:solidFill>
                      <a:srgbClr val="1A2026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layers</a:t>
                </a:r>
                <a:endParaRPr sz="2400">
                  <a:solidFill>
                    <a:srgbClr val="1A2026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241" name="Google Shape;241;p11"/>
              <p:cNvSpPr txBox="1"/>
              <p:nvPr/>
            </p:nvSpPr>
            <p:spPr>
              <a:xfrm>
                <a:off x="1143000" y="3790950"/>
                <a:ext cx="73344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FF6B6B"/>
                    </a:solidFill>
                    <a:latin typeface="Arial"/>
                    <a:ea typeface="Arial"/>
                    <a:cs typeface="Arial"/>
                    <a:sym typeface="Arial"/>
                  </a:rPr>
                  <a:t>Multi-Scale Detection:</a:t>
                </a:r>
                <a:r>
                  <a:rPr lang="en" sz="1300">
                    <a:solidFill>
                      <a:srgbClr val="CBD5E1"/>
                    </a:solidFill>
                    <a:latin typeface="Arial"/>
                    <a:ea typeface="Arial"/>
                    <a:cs typeface="Arial"/>
                    <a:sym typeface="Arial"/>
                  </a:rPr>
                  <a:t> Pooling operations allow the network to recognize features regardless of their size or location in the image.</a:t>
                </a:r>
                <a:endParaRPr sz="13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42" name="Google Shape;242;p11"/>
          <p:cNvSpPr/>
          <p:nvPr/>
        </p:nvSpPr>
        <p:spPr>
          <a:xfrm>
            <a:off x="0" y="4667250"/>
            <a:ext cx="9144000" cy="476400"/>
          </a:xfrm>
          <a:prstGeom prst="rect">
            <a:avLst/>
          </a:prstGeom>
          <a:solidFill>
            <a:srgbClr val="000000">
              <a:alpha val="3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43" name="Google Shape;243;p11"/>
          <p:cNvGrpSpPr/>
          <p:nvPr/>
        </p:nvGrpSpPr>
        <p:grpSpPr>
          <a:xfrm>
            <a:off x="381000" y="4667250"/>
            <a:ext cx="8382000" cy="476400"/>
            <a:chOff x="381000" y="4667250"/>
            <a:chExt cx="8382000" cy="476400"/>
          </a:xfrm>
        </p:grpSpPr>
        <p:sp>
          <p:nvSpPr>
            <p:cNvPr id="244" name="Google Shape;244;p11"/>
            <p:cNvSpPr txBox="1"/>
            <p:nvPr/>
          </p:nvSpPr>
          <p:spPr>
            <a:xfrm>
              <a:off x="381000" y="4667250"/>
              <a:ext cx="3810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94A3B8"/>
                  </a:solidFill>
                  <a:latin typeface="Arial"/>
                  <a:ea typeface="Arial"/>
                  <a:cs typeface="Arial"/>
                  <a:sym typeface="Arial"/>
                </a:rPr>
                <a:t>Capstone Project Presentation</a:t>
              </a:r>
              <a:endParaRPr sz="10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p11"/>
            <p:cNvSpPr txBox="1"/>
            <p:nvPr/>
          </p:nvSpPr>
          <p:spPr>
            <a:xfrm>
              <a:off x="6858000" y="4667250"/>
              <a:ext cx="1905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Poojashri K</a:t>
              </a:r>
              <a:endParaRPr b="1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2" name="Google Shape;252;p12"/>
          <p:cNvGrpSpPr/>
          <p:nvPr/>
        </p:nvGrpSpPr>
        <p:grpSpPr>
          <a:xfrm>
            <a:off x="457200" y="1095375"/>
            <a:ext cx="3619500" cy="2749752"/>
            <a:chOff x="457200" y="1095375"/>
            <a:chExt cx="3619500" cy="2749752"/>
          </a:xfrm>
        </p:grpSpPr>
        <p:grpSp>
          <p:nvGrpSpPr>
            <p:cNvPr id="253" name="Google Shape;253;p12"/>
            <p:cNvGrpSpPr/>
            <p:nvPr/>
          </p:nvGrpSpPr>
          <p:grpSpPr>
            <a:xfrm>
              <a:off x="457200" y="1095375"/>
              <a:ext cx="3619500" cy="844752"/>
              <a:chOff x="457200" y="1095375"/>
              <a:chExt cx="3619500" cy="844752"/>
            </a:xfrm>
          </p:grpSpPr>
          <p:sp>
            <p:nvSpPr>
              <p:cNvPr id="254" name="Google Shape;254;p12"/>
              <p:cNvSpPr/>
              <p:nvPr/>
            </p:nvSpPr>
            <p:spPr>
              <a:xfrm>
                <a:off x="457200" y="1095375"/>
                <a:ext cx="3619500" cy="809700"/>
              </a:xfrm>
              <a:prstGeom prst="roundRect">
                <a:avLst>
                  <a:gd fmla="val 9411" name="adj"/>
                </a:avLst>
              </a:prstGeom>
              <a:solidFill>
                <a:srgbClr val="1A202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" name="Google Shape;255;p12"/>
              <p:cNvSpPr/>
              <p:nvPr/>
            </p:nvSpPr>
            <p:spPr>
              <a:xfrm>
                <a:off x="457200" y="1095375"/>
                <a:ext cx="476400" cy="809700"/>
              </a:xfrm>
              <a:prstGeom prst="roundRect">
                <a:avLst>
                  <a:gd fmla="val 16000" name="adj"/>
                </a:avLst>
              </a:prstGeom>
              <a:solidFill>
                <a:srgbClr val="4ECDC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2"/>
              <p:cNvSpPr txBox="1"/>
              <p:nvPr/>
            </p:nvSpPr>
            <p:spPr>
              <a:xfrm>
                <a:off x="457200" y="1130427"/>
                <a:ext cx="476400" cy="80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400">
                    <a:solidFill>
                      <a:srgbClr val="1A2026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assignment</a:t>
                </a:r>
                <a:endParaRPr sz="2400">
                  <a:solidFill>
                    <a:srgbClr val="1A2026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257" name="Google Shape;257;p12"/>
              <p:cNvSpPr txBox="1"/>
              <p:nvPr/>
            </p:nvSpPr>
            <p:spPr>
              <a:xfrm>
                <a:off x="1047750" y="1095375"/>
                <a:ext cx="2933700" cy="80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FF6B6B"/>
                    </a:solidFill>
                    <a:latin typeface="Arial"/>
                    <a:ea typeface="Arial"/>
                    <a:cs typeface="Arial"/>
                    <a:sym typeface="Arial"/>
                  </a:rPr>
                  <a:t>Classification Report</a:t>
                </a:r>
                <a:endParaRPr b="1" sz="1300">
                  <a:solidFill>
                    <a:srgbClr val="FF6B6B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CBD5E1"/>
                    </a:solidFill>
                    <a:latin typeface="Arial"/>
                    <a:ea typeface="Arial"/>
                    <a:cs typeface="Arial"/>
                    <a:sym typeface="Arial"/>
                  </a:rPr>
                  <a:t>Sklearn summary listing Precision, Recall, and F1-score for all 7 emotions.</a:t>
                </a:r>
                <a:endParaRPr b="0" sz="10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58" name="Google Shape;258;p12"/>
            <p:cNvGrpSpPr/>
            <p:nvPr/>
          </p:nvGrpSpPr>
          <p:grpSpPr>
            <a:xfrm>
              <a:off x="457200" y="2047875"/>
              <a:ext cx="3619500" cy="844752"/>
              <a:chOff x="457200" y="2047875"/>
              <a:chExt cx="3619500" cy="844752"/>
            </a:xfrm>
          </p:grpSpPr>
          <p:sp>
            <p:nvSpPr>
              <p:cNvPr id="259" name="Google Shape;259;p12"/>
              <p:cNvSpPr/>
              <p:nvPr/>
            </p:nvSpPr>
            <p:spPr>
              <a:xfrm>
                <a:off x="457200" y="2047875"/>
                <a:ext cx="3619500" cy="809700"/>
              </a:xfrm>
              <a:prstGeom prst="roundRect">
                <a:avLst>
                  <a:gd fmla="val 9411" name="adj"/>
                </a:avLst>
              </a:prstGeom>
              <a:solidFill>
                <a:srgbClr val="1A202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0" name="Google Shape;260;p12"/>
              <p:cNvSpPr/>
              <p:nvPr/>
            </p:nvSpPr>
            <p:spPr>
              <a:xfrm>
                <a:off x="457200" y="2047875"/>
                <a:ext cx="476400" cy="809700"/>
              </a:xfrm>
              <a:prstGeom prst="roundRect">
                <a:avLst>
                  <a:gd fmla="val 16000" name="adj"/>
                </a:avLst>
              </a:prstGeom>
              <a:solidFill>
                <a:srgbClr val="4ECDC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2"/>
              <p:cNvSpPr txBox="1"/>
              <p:nvPr/>
            </p:nvSpPr>
            <p:spPr>
              <a:xfrm>
                <a:off x="457200" y="2082927"/>
                <a:ext cx="476400" cy="80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400">
                    <a:solidFill>
                      <a:srgbClr val="1A2026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grid_on</a:t>
                </a:r>
                <a:endParaRPr sz="2400">
                  <a:solidFill>
                    <a:srgbClr val="1A2026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262" name="Google Shape;262;p12"/>
              <p:cNvSpPr txBox="1"/>
              <p:nvPr/>
            </p:nvSpPr>
            <p:spPr>
              <a:xfrm>
                <a:off x="1047750" y="2047875"/>
                <a:ext cx="2933700" cy="80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FF6B6B"/>
                    </a:solidFill>
                    <a:latin typeface="Arial"/>
                    <a:ea typeface="Arial"/>
                    <a:cs typeface="Arial"/>
                    <a:sym typeface="Arial"/>
                  </a:rPr>
                  <a:t>Confusion Matrix</a:t>
                </a:r>
                <a:endParaRPr b="1" sz="1300">
                  <a:solidFill>
                    <a:srgbClr val="FF6B6B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CBD5E1"/>
                    </a:solidFill>
                    <a:latin typeface="Arial"/>
                    <a:ea typeface="Arial"/>
                    <a:cs typeface="Arial"/>
                    <a:sym typeface="Arial"/>
                  </a:rPr>
                  <a:t>A grid visualizing exactly where the model misinterprets specific emotions.</a:t>
                </a:r>
                <a:endParaRPr b="0" sz="10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63" name="Google Shape;263;p12"/>
            <p:cNvGrpSpPr/>
            <p:nvPr/>
          </p:nvGrpSpPr>
          <p:grpSpPr>
            <a:xfrm>
              <a:off x="457200" y="3000375"/>
              <a:ext cx="3619500" cy="844752"/>
              <a:chOff x="457200" y="3000375"/>
              <a:chExt cx="3619500" cy="844752"/>
            </a:xfrm>
          </p:grpSpPr>
          <p:sp>
            <p:nvSpPr>
              <p:cNvPr id="264" name="Google Shape;264;p12"/>
              <p:cNvSpPr/>
              <p:nvPr/>
            </p:nvSpPr>
            <p:spPr>
              <a:xfrm>
                <a:off x="457200" y="3000375"/>
                <a:ext cx="3619500" cy="809700"/>
              </a:xfrm>
              <a:prstGeom prst="roundRect">
                <a:avLst>
                  <a:gd fmla="val 9411" name="adj"/>
                </a:avLst>
              </a:prstGeom>
              <a:solidFill>
                <a:srgbClr val="1A202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2"/>
              <p:cNvSpPr/>
              <p:nvPr/>
            </p:nvSpPr>
            <p:spPr>
              <a:xfrm>
                <a:off x="457200" y="3000375"/>
                <a:ext cx="476400" cy="809700"/>
              </a:xfrm>
              <a:prstGeom prst="roundRect">
                <a:avLst>
                  <a:gd fmla="val 16000" name="adj"/>
                </a:avLst>
              </a:prstGeom>
              <a:solidFill>
                <a:srgbClr val="4ECDC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2"/>
              <p:cNvSpPr txBox="1"/>
              <p:nvPr/>
            </p:nvSpPr>
            <p:spPr>
              <a:xfrm>
                <a:off x="457200" y="3035427"/>
                <a:ext cx="476400" cy="80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400">
                    <a:solidFill>
                      <a:srgbClr val="1A2026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show_chart</a:t>
                </a:r>
                <a:endParaRPr sz="2400">
                  <a:solidFill>
                    <a:srgbClr val="1A2026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267" name="Google Shape;267;p12"/>
              <p:cNvSpPr txBox="1"/>
              <p:nvPr/>
            </p:nvSpPr>
            <p:spPr>
              <a:xfrm>
                <a:off x="1047750" y="3000375"/>
                <a:ext cx="2933700" cy="80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FF6B6B"/>
                    </a:solidFill>
                    <a:latin typeface="Arial"/>
                    <a:ea typeface="Arial"/>
                    <a:cs typeface="Arial"/>
                    <a:sym typeface="Arial"/>
                  </a:rPr>
                  <a:t>Accuracy Curves</a:t>
                </a:r>
                <a:endParaRPr b="1" sz="1300">
                  <a:solidFill>
                    <a:srgbClr val="FF6B6B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CBD5E1"/>
                    </a:solidFill>
                    <a:latin typeface="Arial"/>
                    <a:ea typeface="Arial"/>
                    <a:cs typeface="Arial"/>
                    <a:sym typeface="Arial"/>
                  </a:rPr>
                  <a:t>Matplotlib plots of Training vs. Validation Accuracy over 15 epochs.</a:t>
                </a:r>
                <a:endParaRPr b="0" sz="10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68" name="Google Shape;268;p12"/>
          <p:cNvSpPr/>
          <p:nvPr/>
        </p:nvSpPr>
        <p:spPr>
          <a:xfrm>
            <a:off x="0" y="4667250"/>
            <a:ext cx="9144000" cy="476400"/>
          </a:xfrm>
          <a:prstGeom prst="rect">
            <a:avLst/>
          </a:prstGeom>
          <a:solidFill>
            <a:srgbClr val="000000">
              <a:alpha val="3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69" name="Google Shape;269;p12"/>
          <p:cNvGrpSpPr/>
          <p:nvPr/>
        </p:nvGrpSpPr>
        <p:grpSpPr>
          <a:xfrm>
            <a:off x="381000" y="4667250"/>
            <a:ext cx="8382000" cy="476400"/>
            <a:chOff x="381000" y="4667250"/>
            <a:chExt cx="8382000" cy="476400"/>
          </a:xfrm>
        </p:grpSpPr>
        <p:sp>
          <p:nvSpPr>
            <p:cNvPr id="270" name="Google Shape;270;p12"/>
            <p:cNvSpPr txBox="1"/>
            <p:nvPr/>
          </p:nvSpPr>
          <p:spPr>
            <a:xfrm>
              <a:off x="381000" y="4667250"/>
              <a:ext cx="3810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94A3B8"/>
                  </a:solidFill>
                  <a:latin typeface="Arial"/>
                  <a:ea typeface="Arial"/>
                  <a:cs typeface="Arial"/>
                  <a:sym typeface="Arial"/>
                </a:rPr>
                <a:t>Capstone Project Presentation</a:t>
              </a:r>
              <a:endParaRPr sz="10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" name="Google Shape;271;p12"/>
            <p:cNvSpPr txBox="1"/>
            <p:nvPr/>
          </p:nvSpPr>
          <p:spPr>
            <a:xfrm>
              <a:off x="6858000" y="4667250"/>
              <a:ext cx="1905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Poojashri K</a:t>
              </a:r>
              <a:endParaRPr b="1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2" name="Google Shape;272;p12"/>
          <p:cNvSpPr/>
          <p:nvPr/>
        </p:nvSpPr>
        <p:spPr>
          <a:xfrm>
            <a:off x="457200" y="137160"/>
            <a:ext cx="8229600" cy="640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9525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4ECDC4"/>
                </a:solidFill>
                <a:latin typeface="Arial"/>
                <a:ea typeface="Arial"/>
                <a:cs typeface="Arial"/>
                <a:sym typeface="Arial"/>
              </a:rPr>
              <a:t>Evaluation Tools &amp; Visualization</a:t>
            </a:r>
            <a:endParaRPr b="1" sz="3600">
              <a:solidFill>
                <a:srgbClr val="4ECDC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ompress image" id="273" name="Google Shape;273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94900" y="777350"/>
            <a:ext cx="3445900" cy="228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81975" y="3262175"/>
            <a:ext cx="3258825" cy="1524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3"/>
          <p:cNvSpPr/>
          <p:nvPr/>
        </p:nvSpPr>
        <p:spPr>
          <a:xfrm>
            <a:off x="457200" y="137160"/>
            <a:ext cx="8229600" cy="640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9525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4ECDC4"/>
                </a:solidFill>
                <a:latin typeface="Arial"/>
                <a:ea typeface="Arial"/>
                <a:cs typeface="Arial"/>
                <a:sym typeface="Arial"/>
              </a:rPr>
              <a:t>Training Progress: Accuracy Curve</a:t>
            </a:r>
            <a:endParaRPr b="1" sz="3600">
              <a:solidFill>
                <a:srgbClr val="4ECDC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1" name="Google Shape;281;p13"/>
          <p:cNvGrpSpPr/>
          <p:nvPr/>
        </p:nvGrpSpPr>
        <p:grpSpPr>
          <a:xfrm>
            <a:off x="0" y="4667250"/>
            <a:ext cx="9144000" cy="476400"/>
            <a:chOff x="0" y="4667250"/>
            <a:chExt cx="9144000" cy="476400"/>
          </a:xfrm>
        </p:grpSpPr>
        <p:sp>
          <p:nvSpPr>
            <p:cNvPr id="282" name="Google Shape;282;p13"/>
            <p:cNvSpPr/>
            <p:nvPr/>
          </p:nvSpPr>
          <p:spPr>
            <a:xfrm>
              <a:off x="0" y="4667250"/>
              <a:ext cx="9144000" cy="476400"/>
            </a:xfrm>
            <a:prstGeom prst="rect">
              <a:avLst/>
            </a:prstGeom>
            <a:solidFill>
              <a:srgbClr val="000000">
                <a:alpha val="3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13"/>
            <p:cNvSpPr txBox="1"/>
            <p:nvPr/>
          </p:nvSpPr>
          <p:spPr>
            <a:xfrm>
              <a:off x="381000" y="4667250"/>
              <a:ext cx="3810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94A3B8"/>
                  </a:solidFill>
                  <a:latin typeface="Arial"/>
                  <a:ea typeface="Arial"/>
                  <a:cs typeface="Arial"/>
                  <a:sym typeface="Arial"/>
                </a:rPr>
                <a:t>Capstone Project Presentation</a:t>
              </a:r>
              <a:endParaRPr b="0" sz="10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284;p13"/>
            <p:cNvSpPr txBox="1"/>
            <p:nvPr/>
          </p:nvSpPr>
          <p:spPr>
            <a:xfrm>
              <a:off x="6858000" y="4667250"/>
              <a:ext cx="1905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Poojashri K</a:t>
              </a:r>
              <a:endParaRPr b="1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5" name="Google Shape;285;p13"/>
          <p:cNvGrpSpPr/>
          <p:nvPr/>
        </p:nvGrpSpPr>
        <p:grpSpPr>
          <a:xfrm>
            <a:off x="457195" y="1143005"/>
            <a:ext cx="3109817" cy="3524460"/>
            <a:chOff x="457200" y="1143000"/>
            <a:chExt cx="2857500" cy="3238500"/>
          </a:xfrm>
        </p:grpSpPr>
        <p:sp>
          <p:nvSpPr>
            <p:cNvPr id="286" name="Google Shape;286;p13"/>
            <p:cNvSpPr/>
            <p:nvPr/>
          </p:nvSpPr>
          <p:spPr>
            <a:xfrm>
              <a:off x="457200" y="1143000"/>
              <a:ext cx="2857500" cy="3238500"/>
            </a:xfrm>
            <a:prstGeom prst="roundRect">
              <a:avLst>
                <a:gd fmla="val 4000" name="adj"/>
              </a:avLst>
            </a:prstGeom>
            <a:solidFill>
              <a:srgbClr val="1A202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13"/>
            <p:cNvSpPr txBox="1"/>
            <p:nvPr/>
          </p:nvSpPr>
          <p:spPr>
            <a:xfrm>
              <a:off x="647700" y="1333500"/>
              <a:ext cx="24765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24">
                  <a:solidFill>
                    <a:srgbClr val="4ECDC4"/>
                  </a:solidFill>
                  <a:latin typeface="Arial"/>
                  <a:ea typeface="Arial"/>
                  <a:cs typeface="Arial"/>
                  <a:sym typeface="Arial"/>
                </a:rPr>
                <a:t>Key Observations</a:t>
              </a:r>
              <a:endParaRPr b="1" sz="1524">
                <a:solidFill>
                  <a:srgbClr val="4ECDC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632"/>
                </a:spcBef>
                <a:spcAft>
                  <a:spcPts val="0"/>
                </a:spcAft>
                <a:buNone/>
              </a:pPr>
              <a:r>
                <a:rPr b="1" lang="en" sz="1306">
                  <a:solidFill>
                    <a:srgbClr val="FF6B6B"/>
                  </a:solidFill>
                  <a:latin typeface="Arial"/>
                  <a:ea typeface="Arial"/>
                  <a:cs typeface="Arial"/>
                  <a:sym typeface="Arial"/>
                </a:rPr>
                <a:t>Steady Ascent:</a:t>
              </a:r>
              <a:br>
                <a:rPr b="1" lang="en" sz="1524">
                  <a:solidFill>
                    <a:srgbClr val="4ECDC4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lang="en" sz="1088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Both training and validation accuracy show a consistent upward trend.</a:t>
              </a:r>
              <a:endParaRPr b="1" sz="1524">
                <a:solidFill>
                  <a:srgbClr val="4ECDC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2041"/>
                </a:spcBef>
                <a:spcAft>
                  <a:spcPts val="0"/>
                </a:spcAft>
                <a:buNone/>
              </a:pPr>
              <a:r>
                <a:rPr b="1" lang="en" sz="1306">
                  <a:solidFill>
                    <a:srgbClr val="FF6B6B"/>
                  </a:solidFill>
                  <a:latin typeface="Arial"/>
                  <a:ea typeface="Arial"/>
                  <a:cs typeface="Arial"/>
                  <a:sym typeface="Arial"/>
                </a:rPr>
                <a:t>Low Overfitting:</a:t>
              </a:r>
              <a:br>
                <a:rPr b="1" lang="en" sz="1524">
                  <a:solidFill>
                    <a:srgbClr val="4ECDC4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lang="en" sz="1088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The narrow gap between curves suggests effective regularization.</a:t>
              </a:r>
              <a:endParaRPr b="1" sz="1524">
                <a:solidFill>
                  <a:srgbClr val="4ECDC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2041"/>
                </a:spcBef>
                <a:spcAft>
                  <a:spcPts val="0"/>
                </a:spcAft>
                <a:buNone/>
              </a:pPr>
              <a:r>
                <a:rPr b="1" lang="en" sz="1306">
                  <a:solidFill>
                    <a:srgbClr val="FF6B6B"/>
                  </a:solidFill>
                  <a:latin typeface="Arial"/>
                  <a:ea typeface="Arial"/>
                  <a:cs typeface="Arial"/>
                  <a:sym typeface="Arial"/>
                </a:rPr>
                <a:t>Final Peak:</a:t>
              </a:r>
              <a:br>
                <a:rPr b="1" lang="en" sz="1524">
                  <a:solidFill>
                    <a:srgbClr val="4ECDC4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lang="en" sz="1088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Model reaches ~84% validation accuracy by epoch 15.</a:t>
              </a:r>
              <a:endParaRPr b="1" sz="1524">
                <a:solidFill>
                  <a:srgbClr val="4ECDC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88" name="Google Shape;288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45550" y="1279450"/>
            <a:ext cx="5008776" cy="303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4"/>
          <p:cNvSpPr/>
          <p:nvPr/>
        </p:nvSpPr>
        <p:spPr>
          <a:xfrm>
            <a:off x="457200" y="137160"/>
            <a:ext cx="8229600" cy="640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47625" lIns="95250" spcFirstLastPara="1" rIns="95250" wrap="square" tIns="47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30">
                <a:solidFill>
                  <a:srgbClr val="4ECDC4"/>
                </a:solidFill>
                <a:latin typeface="Arial"/>
                <a:ea typeface="Arial"/>
                <a:cs typeface="Arial"/>
                <a:sym typeface="Arial"/>
              </a:rPr>
              <a:t>Final Performance Results</a:t>
            </a:r>
            <a:endParaRPr b="1" sz="3330">
              <a:solidFill>
                <a:srgbClr val="4ECDC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95" name="Google Shape;295;p14"/>
          <p:cNvGrpSpPr/>
          <p:nvPr/>
        </p:nvGrpSpPr>
        <p:grpSpPr>
          <a:xfrm>
            <a:off x="457200" y="952500"/>
            <a:ext cx="8229600" cy="952500"/>
            <a:chOff x="457200" y="952500"/>
            <a:chExt cx="8229600" cy="952500"/>
          </a:xfrm>
        </p:grpSpPr>
        <p:sp>
          <p:nvSpPr>
            <p:cNvPr id="296" name="Google Shape;296;p14"/>
            <p:cNvSpPr/>
            <p:nvPr/>
          </p:nvSpPr>
          <p:spPr>
            <a:xfrm>
              <a:off x="457200" y="952500"/>
              <a:ext cx="2667000" cy="952500"/>
            </a:xfrm>
            <a:prstGeom prst="roundRect">
              <a:avLst>
                <a:gd fmla="val 8000" name="adj"/>
              </a:avLst>
            </a:prstGeom>
            <a:solidFill>
              <a:srgbClr val="1A202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14"/>
            <p:cNvSpPr txBox="1"/>
            <p:nvPr/>
          </p:nvSpPr>
          <p:spPr>
            <a:xfrm>
              <a:off x="457200" y="952500"/>
              <a:ext cx="2667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200">
                  <a:solidFill>
                    <a:srgbClr val="4ECDC4"/>
                  </a:solidFill>
                  <a:latin typeface="Arial"/>
                  <a:ea typeface="Arial"/>
                  <a:cs typeface="Arial"/>
                  <a:sym typeface="Arial"/>
                </a:rPr>
                <a:t>53</a:t>
              </a:r>
              <a:r>
                <a:rPr b="1" lang="en" sz="3200">
                  <a:solidFill>
                    <a:srgbClr val="4ECDC4"/>
                  </a:solidFill>
                  <a:latin typeface="Arial"/>
                  <a:ea typeface="Arial"/>
                  <a:cs typeface="Arial"/>
                  <a:sym typeface="Arial"/>
                </a:rPr>
                <a:t>%</a:t>
              </a:r>
              <a:endParaRPr b="1" sz="3200">
                <a:solidFill>
                  <a:srgbClr val="4ECDC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Overall Accuracy</a:t>
              </a:r>
              <a:endParaRPr b="0" sz="11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" name="Google Shape;298;p14"/>
            <p:cNvSpPr/>
            <p:nvPr/>
          </p:nvSpPr>
          <p:spPr>
            <a:xfrm>
              <a:off x="3238500" y="952500"/>
              <a:ext cx="2667000" cy="952500"/>
            </a:xfrm>
            <a:prstGeom prst="roundRect">
              <a:avLst>
                <a:gd fmla="val 8000" name="adj"/>
              </a:avLst>
            </a:prstGeom>
            <a:solidFill>
              <a:srgbClr val="1A202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14"/>
            <p:cNvSpPr txBox="1"/>
            <p:nvPr/>
          </p:nvSpPr>
          <p:spPr>
            <a:xfrm>
              <a:off x="3238500" y="952500"/>
              <a:ext cx="2667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200">
                  <a:solidFill>
                    <a:srgbClr val="4ECDC4"/>
                  </a:solidFill>
                  <a:latin typeface="Arial"/>
                  <a:ea typeface="Arial"/>
                  <a:cs typeface="Arial"/>
                  <a:sym typeface="Arial"/>
                </a:rPr>
                <a:t>41</a:t>
              </a:r>
              <a:r>
                <a:rPr b="1" lang="en" sz="3200">
                  <a:solidFill>
                    <a:srgbClr val="4ECDC4"/>
                  </a:solidFill>
                  <a:latin typeface="Arial"/>
                  <a:ea typeface="Arial"/>
                  <a:cs typeface="Arial"/>
                  <a:sym typeface="Arial"/>
                </a:rPr>
                <a:t>%</a:t>
              </a:r>
              <a:endParaRPr b="1" sz="3200">
                <a:solidFill>
                  <a:srgbClr val="4ECDC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Avg Precision</a:t>
              </a:r>
              <a:endParaRPr b="0" sz="11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" name="Google Shape;300;p14"/>
            <p:cNvSpPr/>
            <p:nvPr/>
          </p:nvSpPr>
          <p:spPr>
            <a:xfrm>
              <a:off x="6019800" y="952500"/>
              <a:ext cx="2667000" cy="952500"/>
            </a:xfrm>
            <a:prstGeom prst="roundRect">
              <a:avLst>
                <a:gd fmla="val 8000" name="adj"/>
              </a:avLst>
            </a:prstGeom>
            <a:solidFill>
              <a:srgbClr val="1A202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14"/>
            <p:cNvSpPr txBox="1"/>
            <p:nvPr/>
          </p:nvSpPr>
          <p:spPr>
            <a:xfrm>
              <a:off x="6019800" y="952500"/>
              <a:ext cx="2667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200">
                  <a:solidFill>
                    <a:srgbClr val="4ECDC4"/>
                  </a:solidFill>
                  <a:latin typeface="Arial"/>
                  <a:ea typeface="Arial"/>
                  <a:cs typeface="Arial"/>
                  <a:sym typeface="Arial"/>
                </a:rPr>
                <a:t>41</a:t>
              </a:r>
              <a:r>
                <a:rPr b="1" lang="en" sz="3200">
                  <a:solidFill>
                    <a:srgbClr val="4ECDC4"/>
                  </a:solidFill>
                  <a:latin typeface="Arial"/>
                  <a:ea typeface="Arial"/>
                  <a:cs typeface="Arial"/>
                  <a:sym typeface="Arial"/>
                </a:rPr>
                <a:t>%</a:t>
              </a:r>
              <a:endParaRPr b="1" sz="3200">
                <a:solidFill>
                  <a:srgbClr val="4ECDC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Avg Recall</a:t>
              </a:r>
              <a:endParaRPr b="0" sz="11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02" name="Google Shape;302;p14"/>
          <p:cNvGrpSpPr/>
          <p:nvPr/>
        </p:nvGrpSpPr>
        <p:grpSpPr>
          <a:xfrm>
            <a:off x="457200" y="2076450"/>
            <a:ext cx="8229600" cy="2038350"/>
            <a:chOff x="457200" y="2047875"/>
            <a:chExt cx="8229600" cy="2038350"/>
          </a:xfrm>
        </p:grpSpPr>
        <p:sp>
          <p:nvSpPr>
            <p:cNvPr id="303" name="Google Shape;303;p14"/>
            <p:cNvSpPr txBox="1"/>
            <p:nvPr/>
          </p:nvSpPr>
          <p:spPr>
            <a:xfrm>
              <a:off x="457200" y="2047875"/>
              <a:ext cx="82296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F6B6B"/>
                  </a:solidFill>
                  <a:latin typeface="Arial"/>
                  <a:ea typeface="Arial"/>
                  <a:cs typeface="Arial"/>
                  <a:sym typeface="Arial"/>
                </a:rPr>
                <a:t>Emotion-Specific Performance (Best to Worst)</a:t>
              </a:r>
              <a:endParaRPr b="1" sz="1400">
                <a:solidFill>
                  <a:srgbClr val="FF6B6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04" name="Google Shape;304;p14"/>
            <p:cNvGrpSpPr/>
            <p:nvPr/>
          </p:nvGrpSpPr>
          <p:grpSpPr>
            <a:xfrm>
              <a:off x="457200" y="2428875"/>
              <a:ext cx="8229600" cy="228600"/>
              <a:chOff x="0" y="0"/>
              <a:chExt cx="8229600" cy="228600"/>
            </a:xfrm>
          </p:grpSpPr>
          <p:sp>
            <p:nvSpPr>
              <p:cNvPr id="305" name="Google Shape;305;p14"/>
              <p:cNvSpPr/>
              <p:nvPr/>
            </p:nvSpPr>
            <p:spPr>
              <a:xfrm>
                <a:off x="0" y="0"/>
                <a:ext cx="8229600" cy="228600"/>
              </a:xfrm>
              <a:prstGeom prst="roundRect">
                <a:avLst>
                  <a:gd fmla="val 16666" name="adj"/>
                </a:avLst>
              </a:prstGeom>
              <a:solidFill>
                <a:srgbClr val="1A202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6" name="Google Shape;306;p14"/>
              <p:cNvSpPr/>
              <p:nvPr/>
            </p:nvSpPr>
            <p:spPr>
              <a:xfrm>
                <a:off x="0" y="0"/>
                <a:ext cx="7653600" cy="228600"/>
              </a:xfrm>
              <a:prstGeom prst="roundRect">
                <a:avLst>
                  <a:gd fmla="val 16666" name="adj"/>
                </a:avLst>
              </a:prstGeom>
              <a:solidFill>
                <a:srgbClr val="4ECDC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7" name="Google Shape;307;p14"/>
              <p:cNvSpPr txBox="1"/>
              <p:nvPr/>
            </p:nvSpPr>
            <p:spPr>
              <a:xfrm>
                <a:off x="95250" y="0"/>
                <a:ext cx="80391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0F1419"/>
                    </a:solidFill>
                    <a:latin typeface="Arial"/>
                    <a:ea typeface="Arial"/>
                    <a:cs typeface="Arial"/>
                    <a:sym typeface="Arial"/>
                  </a:rPr>
                  <a:t>Happy: 93%</a:t>
                </a:r>
                <a:endParaRPr b="1" sz="1100">
                  <a:solidFill>
                    <a:srgbClr val="0F141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08" name="Google Shape;308;p14"/>
            <p:cNvGrpSpPr/>
            <p:nvPr/>
          </p:nvGrpSpPr>
          <p:grpSpPr>
            <a:xfrm>
              <a:off x="457200" y="2714625"/>
              <a:ext cx="8229600" cy="228600"/>
              <a:chOff x="0" y="0"/>
              <a:chExt cx="8229600" cy="228600"/>
            </a:xfrm>
          </p:grpSpPr>
          <p:sp>
            <p:nvSpPr>
              <p:cNvPr id="309" name="Google Shape;309;p14"/>
              <p:cNvSpPr/>
              <p:nvPr/>
            </p:nvSpPr>
            <p:spPr>
              <a:xfrm>
                <a:off x="0" y="0"/>
                <a:ext cx="8229600" cy="228600"/>
              </a:xfrm>
              <a:prstGeom prst="roundRect">
                <a:avLst>
                  <a:gd fmla="val 16666" name="adj"/>
                </a:avLst>
              </a:prstGeom>
              <a:solidFill>
                <a:srgbClr val="1A202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0" name="Google Shape;310;p14"/>
              <p:cNvSpPr/>
              <p:nvPr/>
            </p:nvSpPr>
            <p:spPr>
              <a:xfrm>
                <a:off x="0" y="0"/>
                <a:ext cx="7077600" cy="228600"/>
              </a:xfrm>
              <a:prstGeom prst="roundRect">
                <a:avLst>
                  <a:gd fmla="val 16666" name="adj"/>
                </a:avLst>
              </a:prstGeom>
              <a:solidFill>
                <a:srgbClr val="4ECDC4">
                  <a:alpha val="9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1" name="Google Shape;311;p14"/>
              <p:cNvSpPr txBox="1"/>
              <p:nvPr/>
            </p:nvSpPr>
            <p:spPr>
              <a:xfrm>
                <a:off x="95250" y="0"/>
                <a:ext cx="80391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0F1419"/>
                    </a:solidFill>
                    <a:latin typeface="Arial"/>
                    <a:ea typeface="Arial"/>
                    <a:cs typeface="Arial"/>
                    <a:sym typeface="Arial"/>
                  </a:rPr>
                  <a:t>Angry: 86%</a:t>
                </a:r>
                <a:endParaRPr b="1" sz="1100">
                  <a:solidFill>
                    <a:srgbClr val="0F141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12" name="Google Shape;312;p14"/>
            <p:cNvGrpSpPr/>
            <p:nvPr/>
          </p:nvGrpSpPr>
          <p:grpSpPr>
            <a:xfrm>
              <a:off x="457200" y="3000375"/>
              <a:ext cx="8229600" cy="228600"/>
              <a:chOff x="0" y="0"/>
              <a:chExt cx="8229600" cy="228600"/>
            </a:xfrm>
          </p:grpSpPr>
          <p:sp>
            <p:nvSpPr>
              <p:cNvPr id="313" name="Google Shape;313;p14"/>
              <p:cNvSpPr/>
              <p:nvPr/>
            </p:nvSpPr>
            <p:spPr>
              <a:xfrm>
                <a:off x="0" y="0"/>
                <a:ext cx="8229600" cy="228600"/>
              </a:xfrm>
              <a:prstGeom prst="roundRect">
                <a:avLst>
                  <a:gd fmla="val 16666" name="adj"/>
                </a:avLst>
              </a:prstGeom>
              <a:solidFill>
                <a:srgbClr val="1A202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4" name="Google Shape;314;p14"/>
              <p:cNvSpPr/>
              <p:nvPr/>
            </p:nvSpPr>
            <p:spPr>
              <a:xfrm>
                <a:off x="0" y="0"/>
                <a:ext cx="6995100" cy="228600"/>
              </a:xfrm>
              <a:prstGeom prst="roundRect">
                <a:avLst>
                  <a:gd fmla="val 16666" name="adj"/>
                </a:avLst>
              </a:prstGeom>
              <a:solidFill>
                <a:srgbClr val="4ECDC4">
                  <a:alpha val="85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5" name="Google Shape;315;p14"/>
              <p:cNvSpPr txBox="1"/>
              <p:nvPr/>
            </p:nvSpPr>
            <p:spPr>
              <a:xfrm>
                <a:off x="95250" y="0"/>
                <a:ext cx="80391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0F1419"/>
                    </a:solidFill>
                    <a:latin typeface="Arial"/>
                    <a:ea typeface="Arial"/>
                    <a:cs typeface="Arial"/>
                    <a:sym typeface="Arial"/>
                  </a:rPr>
                  <a:t>Fear: 85%</a:t>
                </a:r>
                <a:endParaRPr b="1" sz="1100">
                  <a:solidFill>
                    <a:srgbClr val="0F141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16" name="Google Shape;316;p14"/>
            <p:cNvGrpSpPr/>
            <p:nvPr/>
          </p:nvGrpSpPr>
          <p:grpSpPr>
            <a:xfrm>
              <a:off x="457200" y="3286125"/>
              <a:ext cx="8229600" cy="228600"/>
              <a:chOff x="0" y="0"/>
              <a:chExt cx="8229600" cy="228600"/>
            </a:xfrm>
          </p:grpSpPr>
          <p:sp>
            <p:nvSpPr>
              <p:cNvPr id="317" name="Google Shape;317;p14"/>
              <p:cNvSpPr/>
              <p:nvPr/>
            </p:nvSpPr>
            <p:spPr>
              <a:xfrm>
                <a:off x="0" y="0"/>
                <a:ext cx="8229600" cy="228600"/>
              </a:xfrm>
              <a:prstGeom prst="roundRect">
                <a:avLst>
                  <a:gd fmla="val 16666" name="adj"/>
                </a:avLst>
              </a:prstGeom>
              <a:solidFill>
                <a:srgbClr val="1A202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8" name="Google Shape;318;p14"/>
              <p:cNvSpPr/>
              <p:nvPr/>
            </p:nvSpPr>
            <p:spPr>
              <a:xfrm>
                <a:off x="0" y="0"/>
                <a:ext cx="6748200" cy="228600"/>
              </a:xfrm>
              <a:prstGeom prst="roundRect">
                <a:avLst>
                  <a:gd fmla="val 16666" name="adj"/>
                </a:avLst>
              </a:prstGeom>
              <a:solidFill>
                <a:srgbClr val="4ECDC4">
                  <a:alpha val="8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9" name="Google Shape;319;p14"/>
              <p:cNvSpPr txBox="1"/>
              <p:nvPr/>
            </p:nvSpPr>
            <p:spPr>
              <a:xfrm>
                <a:off x="95250" y="0"/>
                <a:ext cx="80391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0F1419"/>
                    </a:solidFill>
                    <a:latin typeface="Arial"/>
                    <a:ea typeface="Arial"/>
                    <a:cs typeface="Arial"/>
                    <a:sym typeface="Arial"/>
                  </a:rPr>
                  <a:t>Surprise: 82%</a:t>
                </a:r>
                <a:endParaRPr b="1" sz="1100">
                  <a:solidFill>
                    <a:srgbClr val="0F141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20" name="Google Shape;320;p14"/>
            <p:cNvGrpSpPr/>
            <p:nvPr/>
          </p:nvGrpSpPr>
          <p:grpSpPr>
            <a:xfrm>
              <a:off x="457200" y="3571875"/>
              <a:ext cx="8229600" cy="228600"/>
              <a:chOff x="0" y="0"/>
              <a:chExt cx="8229600" cy="228600"/>
            </a:xfrm>
          </p:grpSpPr>
          <p:sp>
            <p:nvSpPr>
              <p:cNvPr id="321" name="Google Shape;321;p14"/>
              <p:cNvSpPr/>
              <p:nvPr/>
            </p:nvSpPr>
            <p:spPr>
              <a:xfrm>
                <a:off x="0" y="0"/>
                <a:ext cx="8229600" cy="228600"/>
              </a:xfrm>
              <a:prstGeom prst="roundRect">
                <a:avLst>
                  <a:gd fmla="val 16666" name="adj"/>
                </a:avLst>
              </a:prstGeom>
              <a:solidFill>
                <a:srgbClr val="1A202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2" name="Google Shape;322;p14"/>
              <p:cNvSpPr/>
              <p:nvPr/>
            </p:nvSpPr>
            <p:spPr>
              <a:xfrm>
                <a:off x="0" y="0"/>
                <a:ext cx="6583800" cy="228600"/>
              </a:xfrm>
              <a:prstGeom prst="roundRect">
                <a:avLst>
                  <a:gd fmla="val 16666" name="adj"/>
                </a:avLst>
              </a:prstGeom>
              <a:solidFill>
                <a:srgbClr val="4ECDC4">
                  <a:alpha val="75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3" name="Google Shape;323;p14"/>
              <p:cNvSpPr txBox="1"/>
              <p:nvPr/>
            </p:nvSpPr>
            <p:spPr>
              <a:xfrm>
                <a:off x="95250" y="0"/>
                <a:ext cx="80391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0F1419"/>
                    </a:solidFill>
                    <a:latin typeface="Arial"/>
                    <a:ea typeface="Arial"/>
                    <a:cs typeface="Arial"/>
                    <a:sym typeface="Arial"/>
                  </a:rPr>
                  <a:t>Sad / Disgust: 80%</a:t>
                </a:r>
                <a:endParaRPr b="1" sz="1100">
                  <a:solidFill>
                    <a:srgbClr val="0F141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24" name="Google Shape;324;p14"/>
            <p:cNvGrpSpPr/>
            <p:nvPr/>
          </p:nvGrpSpPr>
          <p:grpSpPr>
            <a:xfrm>
              <a:off x="457200" y="3857625"/>
              <a:ext cx="8229600" cy="228600"/>
              <a:chOff x="0" y="0"/>
              <a:chExt cx="8229600" cy="228600"/>
            </a:xfrm>
          </p:grpSpPr>
          <p:sp>
            <p:nvSpPr>
              <p:cNvPr id="325" name="Google Shape;325;p14"/>
              <p:cNvSpPr/>
              <p:nvPr/>
            </p:nvSpPr>
            <p:spPr>
              <a:xfrm>
                <a:off x="0" y="0"/>
                <a:ext cx="8229600" cy="228600"/>
              </a:xfrm>
              <a:prstGeom prst="roundRect">
                <a:avLst>
                  <a:gd fmla="val 16666" name="adj"/>
                </a:avLst>
              </a:prstGeom>
              <a:solidFill>
                <a:srgbClr val="1A202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6" name="Google Shape;326;p14"/>
              <p:cNvSpPr/>
              <p:nvPr/>
            </p:nvSpPr>
            <p:spPr>
              <a:xfrm>
                <a:off x="0" y="0"/>
                <a:ext cx="6501300" cy="228600"/>
              </a:xfrm>
              <a:prstGeom prst="roundRect">
                <a:avLst>
                  <a:gd fmla="val 16666" name="adj"/>
                </a:avLst>
              </a:prstGeom>
              <a:solidFill>
                <a:srgbClr val="4ECDC4">
                  <a:alpha val="7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7" name="Google Shape;327;p14"/>
              <p:cNvSpPr txBox="1"/>
              <p:nvPr/>
            </p:nvSpPr>
            <p:spPr>
              <a:xfrm>
                <a:off x="95250" y="0"/>
                <a:ext cx="80391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0F1419"/>
                    </a:solidFill>
                    <a:latin typeface="Arial"/>
                    <a:ea typeface="Arial"/>
                    <a:cs typeface="Arial"/>
                    <a:sym typeface="Arial"/>
                  </a:rPr>
                  <a:t>Neutral: 79% (Lowest Accuracy)</a:t>
                </a:r>
                <a:endParaRPr b="1" sz="1100">
                  <a:solidFill>
                    <a:srgbClr val="0F141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28" name="Google Shape;328;p14"/>
          <p:cNvSpPr txBox="1"/>
          <p:nvPr/>
        </p:nvSpPr>
        <p:spPr>
          <a:xfrm>
            <a:off x="457200" y="4286250"/>
            <a:ext cx="8229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rPr>
              <a:t>Evaluation showed that the model was most effective at recognizing high-intensity or distinct expressions. Strong emotion recognition indicates model captures distinct facial expression patterns effectively.</a:t>
            </a:r>
            <a:endParaRPr i="1" sz="1100">
              <a:solidFill>
                <a:srgbClr val="75757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5"/>
          <p:cNvSpPr txBox="1"/>
          <p:nvPr/>
        </p:nvSpPr>
        <p:spPr>
          <a:xfrm>
            <a:off x="457200" y="285750"/>
            <a:ext cx="82296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4ECDC4"/>
                </a:solidFill>
                <a:latin typeface="Arial"/>
                <a:ea typeface="Arial"/>
                <a:cs typeface="Arial"/>
                <a:sym typeface="Arial"/>
              </a:rPr>
              <a:t>Real-Time Emotion Prediction Samples</a:t>
            </a:r>
            <a:endParaRPr b="1" sz="3200">
              <a:solidFill>
                <a:srgbClr val="4ECDC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3" name="Google Shape;333;p15"/>
          <p:cNvGrpSpPr/>
          <p:nvPr/>
        </p:nvGrpSpPr>
        <p:grpSpPr>
          <a:xfrm>
            <a:off x="457200" y="1047750"/>
            <a:ext cx="8429475" cy="3428850"/>
            <a:chOff x="457200" y="1047750"/>
            <a:chExt cx="8429475" cy="3428850"/>
          </a:xfrm>
        </p:grpSpPr>
        <p:grpSp>
          <p:nvGrpSpPr>
            <p:cNvPr id="334" name="Google Shape;334;p15"/>
            <p:cNvGrpSpPr/>
            <p:nvPr/>
          </p:nvGrpSpPr>
          <p:grpSpPr>
            <a:xfrm>
              <a:off x="457200" y="1047750"/>
              <a:ext cx="2000100" cy="1619100"/>
              <a:chOff x="457200" y="1047750"/>
              <a:chExt cx="2000100" cy="1619100"/>
            </a:xfrm>
          </p:grpSpPr>
          <p:sp>
            <p:nvSpPr>
              <p:cNvPr id="335" name="Google Shape;335;p15"/>
              <p:cNvSpPr/>
              <p:nvPr/>
            </p:nvSpPr>
            <p:spPr>
              <a:xfrm>
                <a:off x="457200" y="1047750"/>
                <a:ext cx="2000100" cy="1619100"/>
              </a:xfrm>
              <a:prstGeom prst="roundRect">
                <a:avLst>
                  <a:gd fmla="val 7058" name="adj"/>
                </a:avLst>
              </a:prstGeom>
              <a:solidFill>
                <a:srgbClr val="1E293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336" name="Google Shape;336;p15"/>
              <p:cNvPicPr preferRelativeResize="0"/>
              <p:nvPr/>
            </p:nvPicPr>
            <p:blipFill rotWithShape="1">
              <a:blip r:embed="rId4">
                <a:alphaModFix/>
              </a:blip>
              <a:srcRect b="10506" l="0" r="0" t="10498"/>
              <a:stretch/>
            </p:blipFill>
            <p:spPr>
              <a:xfrm>
                <a:off x="552450" y="1143000"/>
                <a:ext cx="1809600" cy="11430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37" name="Google Shape;337;p15"/>
              <p:cNvSpPr txBox="1"/>
              <p:nvPr/>
            </p:nvSpPr>
            <p:spPr>
              <a:xfrm>
                <a:off x="552450" y="2333625"/>
                <a:ext cx="18096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F87171"/>
                    </a:solidFill>
                    <a:latin typeface="Arial"/>
                    <a:ea typeface="Arial"/>
                    <a:cs typeface="Arial"/>
                    <a:sym typeface="Arial"/>
                  </a:rPr>
                  <a:t>Happy</a:t>
                </a:r>
                <a:endParaRPr b="1" sz="1100">
                  <a:solidFill>
                    <a:srgbClr val="F8717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38" name="Google Shape;338;p15"/>
            <p:cNvGrpSpPr/>
            <p:nvPr/>
          </p:nvGrpSpPr>
          <p:grpSpPr>
            <a:xfrm>
              <a:off x="2600325" y="1047750"/>
              <a:ext cx="2000100" cy="1619100"/>
              <a:chOff x="2600325" y="1047750"/>
              <a:chExt cx="2000100" cy="1619100"/>
            </a:xfrm>
          </p:grpSpPr>
          <p:sp>
            <p:nvSpPr>
              <p:cNvPr id="339" name="Google Shape;339;p15"/>
              <p:cNvSpPr/>
              <p:nvPr/>
            </p:nvSpPr>
            <p:spPr>
              <a:xfrm>
                <a:off x="2600325" y="1047750"/>
                <a:ext cx="2000100" cy="1619100"/>
              </a:xfrm>
              <a:prstGeom prst="roundRect">
                <a:avLst>
                  <a:gd fmla="val 7058" name="adj"/>
                </a:avLst>
              </a:prstGeom>
              <a:solidFill>
                <a:srgbClr val="1E293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340" name="Google Shape;340;p15"/>
              <p:cNvPicPr preferRelativeResize="0"/>
              <p:nvPr/>
            </p:nvPicPr>
            <p:blipFill rotWithShape="1">
              <a:blip r:embed="rId5">
                <a:alphaModFix/>
              </a:blip>
              <a:srcRect b="10249" l="0" r="0" t="10241"/>
              <a:stretch/>
            </p:blipFill>
            <p:spPr>
              <a:xfrm>
                <a:off x="2695575" y="1143000"/>
                <a:ext cx="1809600" cy="11430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1" name="Google Shape;341;p15"/>
              <p:cNvSpPr txBox="1"/>
              <p:nvPr/>
            </p:nvSpPr>
            <p:spPr>
              <a:xfrm>
                <a:off x="2695575" y="2333625"/>
                <a:ext cx="18096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38BDF8"/>
                    </a:solidFill>
                    <a:latin typeface="Arial"/>
                    <a:ea typeface="Arial"/>
                    <a:cs typeface="Arial"/>
                    <a:sym typeface="Arial"/>
                  </a:rPr>
                  <a:t>Neutral</a:t>
                </a:r>
                <a:endParaRPr b="1" sz="1100">
                  <a:solidFill>
                    <a:srgbClr val="38BDF8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42" name="Google Shape;342;p15"/>
            <p:cNvGrpSpPr/>
            <p:nvPr/>
          </p:nvGrpSpPr>
          <p:grpSpPr>
            <a:xfrm>
              <a:off x="4743450" y="1047750"/>
              <a:ext cx="2000100" cy="1619100"/>
              <a:chOff x="4743450" y="1047750"/>
              <a:chExt cx="2000100" cy="1619100"/>
            </a:xfrm>
          </p:grpSpPr>
          <p:sp>
            <p:nvSpPr>
              <p:cNvPr id="343" name="Google Shape;343;p15"/>
              <p:cNvSpPr/>
              <p:nvPr/>
            </p:nvSpPr>
            <p:spPr>
              <a:xfrm>
                <a:off x="4743450" y="1047750"/>
                <a:ext cx="2000100" cy="1619100"/>
              </a:xfrm>
              <a:prstGeom prst="roundRect">
                <a:avLst>
                  <a:gd fmla="val 7058" name="adj"/>
                </a:avLst>
              </a:prstGeom>
              <a:solidFill>
                <a:srgbClr val="1E293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344" name="Google Shape;344;p15"/>
              <p:cNvPicPr preferRelativeResize="0"/>
              <p:nvPr/>
            </p:nvPicPr>
            <p:blipFill rotWithShape="1">
              <a:blip r:embed="rId6">
                <a:alphaModFix/>
              </a:blip>
              <a:srcRect b="10767" l="0" r="0" t="10759"/>
              <a:stretch/>
            </p:blipFill>
            <p:spPr>
              <a:xfrm>
                <a:off x="4838700" y="1143000"/>
                <a:ext cx="1809600" cy="11430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5" name="Google Shape;345;p15"/>
              <p:cNvSpPr txBox="1"/>
              <p:nvPr/>
            </p:nvSpPr>
            <p:spPr>
              <a:xfrm>
                <a:off x="4838700" y="2333625"/>
                <a:ext cx="18096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FACC15"/>
                    </a:solidFill>
                    <a:latin typeface="Arial"/>
                    <a:ea typeface="Arial"/>
                    <a:cs typeface="Arial"/>
                    <a:sym typeface="Arial"/>
                  </a:rPr>
                  <a:t>Surprise</a:t>
                </a:r>
                <a:endParaRPr b="1" sz="1100">
                  <a:solidFill>
                    <a:srgbClr val="FACC15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46" name="Google Shape;346;p15"/>
            <p:cNvGrpSpPr/>
            <p:nvPr/>
          </p:nvGrpSpPr>
          <p:grpSpPr>
            <a:xfrm>
              <a:off x="6886575" y="1047750"/>
              <a:ext cx="2000100" cy="1619100"/>
              <a:chOff x="6886575" y="1047750"/>
              <a:chExt cx="2000100" cy="1619100"/>
            </a:xfrm>
          </p:grpSpPr>
          <p:sp>
            <p:nvSpPr>
              <p:cNvPr id="347" name="Google Shape;347;p15"/>
              <p:cNvSpPr/>
              <p:nvPr/>
            </p:nvSpPr>
            <p:spPr>
              <a:xfrm>
                <a:off x="6886575" y="1047750"/>
                <a:ext cx="2000100" cy="1619100"/>
              </a:xfrm>
              <a:prstGeom prst="roundRect">
                <a:avLst>
                  <a:gd fmla="val 7058" name="adj"/>
                </a:avLst>
              </a:prstGeom>
              <a:solidFill>
                <a:srgbClr val="1E293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348" name="Google Shape;348;p15"/>
              <p:cNvPicPr preferRelativeResize="0"/>
              <p:nvPr/>
            </p:nvPicPr>
            <p:blipFill rotWithShape="1">
              <a:blip r:embed="rId7">
                <a:alphaModFix/>
              </a:blip>
              <a:srcRect b="4881" l="0" r="0" t="4890"/>
              <a:stretch/>
            </p:blipFill>
            <p:spPr>
              <a:xfrm>
                <a:off x="6981825" y="1143000"/>
                <a:ext cx="1809600" cy="11430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9" name="Google Shape;349;p15"/>
              <p:cNvSpPr txBox="1"/>
              <p:nvPr/>
            </p:nvSpPr>
            <p:spPr>
              <a:xfrm>
                <a:off x="6981825" y="2333625"/>
                <a:ext cx="18096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F87171"/>
                    </a:solidFill>
                    <a:latin typeface="Arial"/>
                    <a:ea typeface="Arial"/>
                    <a:cs typeface="Arial"/>
                    <a:sym typeface="Arial"/>
                  </a:rPr>
                  <a:t>Multiple face emotions</a:t>
                </a:r>
                <a:endParaRPr b="1" sz="1000">
                  <a:solidFill>
                    <a:srgbClr val="F8717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50" name="Google Shape;350;p15"/>
            <p:cNvGrpSpPr/>
            <p:nvPr/>
          </p:nvGrpSpPr>
          <p:grpSpPr>
            <a:xfrm>
              <a:off x="457200" y="2857500"/>
              <a:ext cx="2000100" cy="1619100"/>
              <a:chOff x="457200" y="2857500"/>
              <a:chExt cx="2000100" cy="1619100"/>
            </a:xfrm>
          </p:grpSpPr>
          <p:sp>
            <p:nvSpPr>
              <p:cNvPr id="351" name="Google Shape;351;p15"/>
              <p:cNvSpPr/>
              <p:nvPr/>
            </p:nvSpPr>
            <p:spPr>
              <a:xfrm>
                <a:off x="457200" y="2857500"/>
                <a:ext cx="2000100" cy="1619100"/>
              </a:xfrm>
              <a:prstGeom prst="roundRect">
                <a:avLst>
                  <a:gd fmla="val 7058" name="adj"/>
                </a:avLst>
              </a:prstGeom>
              <a:solidFill>
                <a:srgbClr val="1E293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352" name="Google Shape;352;p15"/>
              <p:cNvPicPr preferRelativeResize="0"/>
              <p:nvPr/>
            </p:nvPicPr>
            <p:blipFill rotWithShape="1">
              <a:blip r:embed="rId8">
                <a:alphaModFix/>
              </a:blip>
              <a:srcRect b="5124" l="0" r="0" t="5133"/>
              <a:stretch/>
            </p:blipFill>
            <p:spPr>
              <a:xfrm>
                <a:off x="552450" y="2952750"/>
                <a:ext cx="1809600" cy="11430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53" name="Google Shape;353;p15"/>
              <p:cNvSpPr txBox="1"/>
              <p:nvPr/>
            </p:nvSpPr>
            <p:spPr>
              <a:xfrm>
                <a:off x="552450" y="4143375"/>
                <a:ext cx="18096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FFD700"/>
                    </a:solidFill>
                  </a:rPr>
                  <a:t>Disgust</a:t>
                </a:r>
                <a:endParaRPr b="1" sz="1100">
                  <a:solidFill>
                    <a:srgbClr val="FFD700"/>
                  </a:solidFill>
                </a:endParaRPr>
              </a:p>
            </p:txBody>
          </p:sp>
        </p:grpSp>
        <p:grpSp>
          <p:nvGrpSpPr>
            <p:cNvPr id="354" name="Google Shape;354;p15"/>
            <p:cNvGrpSpPr/>
            <p:nvPr/>
          </p:nvGrpSpPr>
          <p:grpSpPr>
            <a:xfrm>
              <a:off x="2600325" y="2857500"/>
              <a:ext cx="2000100" cy="1619100"/>
              <a:chOff x="2600325" y="2857500"/>
              <a:chExt cx="2000100" cy="1619100"/>
            </a:xfrm>
          </p:grpSpPr>
          <p:sp>
            <p:nvSpPr>
              <p:cNvPr id="355" name="Google Shape;355;p15"/>
              <p:cNvSpPr/>
              <p:nvPr/>
            </p:nvSpPr>
            <p:spPr>
              <a:xfrm>
                <a:off x="2600325" y="2857500"/>
                <a:ext cx="2000100" cy="1619100"/>
              </a:xfrm>
              <a:prstGeom prst="roundRect">
                <a:avLst>
                  <a:gd fmla="val 7058" name="adj"/>
                </a:avLst>
              </a:prstGeom>
              <a:solidFill>
                <a:srgbClr val="1E293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356" name="Google Shape;356;p15"/>
              <p:cNvPicPr preferRelativeResize="0"/>
              <p:nvPr/>
            </p:nvPicPr>
            <p:blipFill rotWithShape="1">
              <a:blip r:embed="rId9">
                <a:alphaModFix/>
              </a:blip>
              <a:srcRect b="6590" l="0" r="0" t="6590"/>
              <a:stretch/>
            </p:blipFill>
            <p:spPr>
              <a:xfrm>
                <a:off x="2695575" y="2952750"/>
                <a:ext cx="1809600" cy="11430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57" name="Google Shape;357;p15"/>
              <p:cNvSpPr txBox="1"/>
              <p:nvPr/>
            </p:nvSpPr>
            <p:spPr>
              <a:xfrm>
                <a:off x="2695575" y="4143375"/>
                <a:ext cx="18096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D32F2F"/>
                    </a:solidFill>
                  </a:rPr>
                  <a:t>Sad</a:t>
                </a:r>
                <a:endParaRPr b="1" sz="1100">
                  <a:solidFill>
                    <a:srgbClr val="D32F2F"/>
                  </a:solidFill>
                </a:endParaRPr>
              </a:p>
            </p:txBody>
          </p:sp>
        </p:grpSp>
        <p:grpSp>
          <p:nvGrpSpPr>
            <p:cNvPr id="358" name="Google Shape;358;p15"/>
            <p:cNvGrpSpPr/>
            <p:nvPr/>
          </p:nvGrpSpPr>
          <p:grpSpPr>
            <a:xfrm>
              <a:off x="4743450" y="2857500"/>
              <a:ext cx="2000100" cy="1619100"/>
              <a:chOff x="4743450" y="2857500"/>
              <a:chExt cx="2000100" cy="1619100"/>
            </a:xfrm>
          </p:grpSpPr>
          <p:sp>
            <p:nvSpPr>
              <p:cNvPr id="359" name="Google Shape;359;p15"/>
              <p:cNvSpPr/>
              <p:nvPr/>
            </p:nvSpPr>
            <p:spPr>
              <a:xfrm>
                <a:off x="4743450" y="2857500"/>
                <a:ext cx="2000100" cy="1619100"/>
              </a:xfrm>
              <a:prstGeom prst="roundRect">
                <a:avLst>
                  <a:gd fmla="val 7058" name="adj"/>
                </a:avLst>
              </a:prstGeom>
              <a:solidFill>
                <a:srgbClr val="1E293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360" name="Google Shape;360;p15"/>
              <p:cNvPicPr preferRelativeResize="0"/>
              <p:nvPr/>
            </p:nvPicPr>
            <p:blipFill rotWithShape="1">
              <a:blip r:embed="rId10">
                <a:alphaModFix/>
              </a:blip>
              <a:srcRect b="4254" l="0" r="0" t="4254"/>
              <a:stretch/>
            </p:blipFill>
            <p:spPr>
              <a:xfrm>
                <a:off x="4838700" y="2952750"/>
                <a:ext cx="1809600" cy="11430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61" name="Google Shape;361;p15"/>
              <p:cNvSpPr txBox="1"/>
              <p:nvPr/>
            </p:nvSpPr>
            <p:spPr>
              <a:xfrm>
                <a:off x="4838700" y="4143375"/>
                <a:ext cx="18096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38BDF8"/>
                    </a:solidFill>
                  </a:rPr>
                  <a:t>Fear</a:t>
                </a:r>
                <a:endParaRPr b="1" sz="1100">
                  <a:solidFill>
                    <a:srgbClr val="38BDF8"/>
                  </a:solidFill>
                </a:endParaRPr>
              </a:p>
            </p:txBody>
          </p:sp>
        </p:grpSp>
        <p:grpSp>
          <p:nvGrpSpPr>
            <p:cNvPr id="362" name="Google Shape;362;p15"/>
            <p:cNvGrpSpPr/>
            <p:nvPr/>
          </p:nvGrpSpPr>
          <p:grpSpPr>
            <a:xfrm>
              <a:off x="6886575" y="2857500"/>
              <a:ext cx="2000100" cy="1619100"/>
              <a:chOff x="6886575" y="2857500"/>
              <a:chExt cx="2000100" cy="1619100"/>
            </a:xfrm>
          </p:grpSpPr>
          <p:sp>
            <p:nvSpPr>
              <p:cNvPr id="363" name="Google Shape;363;p15"/>
              <p:cNvSpPr/>
              <p:nvPr/>
            </p:nvSpPr>
            <p:spPr>
              <a:xfrm>
                <a:off x="6886575" y="2857500"/>
                <a:ext cx="2000100" cy="1619100"/>
              </a:xfrm>
              <a:prstGeom prst="roundRect">
                <a:avLst>
                  <a:gd fmla="val 7058" name="adj"/>
                </a:avLst>
              </a:prstGeom>
              <a:solidFill>
                <a:srgbClr val="1E293B"/>
              </a:solidFill>
              <a:ln cap="flat" cmpd="sng" w="9525">
                <a:solidFill>
                  <a:srgbClr val="38BDF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4" name="Google Shape;364;p15"/>
              <p:cNvSpPr txBox="1"/>
              <p:nvPr/>
            </p:nvSpPr>
            <p:spPr>
              <a:xfrm>
                <a:off x="6981825" y="2952750"/>
                <a:ext cx="1809600" cy="14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7625" lIns="47625" spcFirstLastPara="1" rIns="47625" wrap="square" tIns="476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38BDF8"/>
                    </a:solidFill>
                    <a:latin typeface="Arial"/>
                    <a:ea typeface="Arial"/>
                    <a:cs typeface="Arial"/>
                    <a:sym typeface="Arial"/>
                  </a:rPr>
                  <a:t>Key Insights:</a:t>
                </a:r>
                <a:endParaRPr b="0" sz="10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CBD5E1"/>
                    </a:solidFill>
                    <a:latin typeface="Arial"/>
                    <a:ea typeface="Arial"/>
                    <a:cs typeface="Arial"/>
                    <a:sym typeface="Arial"/>
                  </a:rPr>
                  <a:t>• Model identifies 7 distinct facial expressions.</a:t>
                </a:r>
                <a:endParaRPr b="0" sz="10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CBD5E1"/>
                    </a:solidFill>
                    <a:latin typeface="Arial"/>
                    <a:ea typeface="Arial"/>
                    <a:cs typeface="Arial"/>
                    <a:sym typeface="Arial"/>
                  </a:rPr>
                  <a:t>• High accuracy for Happy &amp; Fear.</a:t>
                </a:r>
                <a:endParaRPr b="0" sz="10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CBD5E1"/>
                    </a:solidFill>
                    <a:latin typeface="Arial"/>
                    <a:ea typeface="Arial"/>
                    <a:cs typeface="Arial"/>
                    <a:sym typeface="Arial"/>
                  </a:rPr>
                  <a:t>• Real-time processing via live camera feed.</a:t>
                </a:r>
                <a:endParaRPr b="0" sz="10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65" name="Google Shape;365;p15"/>
          <p:cNvSpPr/>
          <p:nvPr/>
        </p:nvSpPr>
        <p:spPr>
          <a:xfrm>
            <a:off x="0" y="4667250"/>
            <a:ext cx="9144000" cy="476400"/>
          </a:xfrm>
          <a:prstGeom prst="rect">
            <a:avLst/>
          </a:prstGeom>
          <a:solidFill>
            <a:srgbClr val="000000">
              <a:alpha val="6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5"/>
          <p:cNvSpPr txBox="1"/>
          <p:nvPr/>
        </p:nvSpPr>
        <p:spPr>
          <a:xfrm>
            <a:off x="457200" y="4667250"/>
            <a:ext cx="38100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Capstone Project Presentation</a:t>
            </a:r>
            <a:endParaRPr b="0" sz="1000">
              <a:solidFill>
                <a:srgbClr val="94A3B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15"/>
          <p:cNvSpPr txBox="1"/>
          <p:nvPr/>
        </p:nvSpPr>
        <p:spPr>
          <a:xfrm>
            <a:off x="6781800" y="4667250"/>
            <a:ext cx="19050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Poojashri K</a:t>
            </a:r>
            <a:endParaRPr b="1" sz="1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3" name="Google Shape;373;p16"/>
          <p:cNvGrpSpPr/>
          <p:nvPr/>
        </p:nvGrpSpPr>
        <p:grpSpPr>
          <a:xfrm>
            <a:off x="0" y="0"/>
            <a:ext cx="9144000" cy="762000"/>
            <a:chOff x="0" y="0"/>
            <a:chExt cx="9144000" cy="762000"/>
          </a:xfrm>
        </p:grpSpPr>
        <p:sp>
          <p:nvSpPr>
            <p:cNvPr id="374" name="Google Shape;374;p16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solidFill>
              <a:srgbClr val="1A202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16"/>
            <p:cNvSpPr txBox="1"/>
            <p:nvPr/>
          </p:nvSpPr>
          <p:spPr>
            <a:xfrm>
              <a:off x="457200" y="0"/>
              <a:ext cx="82296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200">
                  <a:solidFill>
                    <a:srgbClr val="4ECDC4"/>
                  </a:solidFill>
                  <a:latin typeface="Arial"/>
                  <a:ea typeface="Arial"/>
                  <a:cs typeface="Arial"/>
                  <a:sym typeface="Arial"/>
                </a:rPr>
                <a:t>Improvements &amp; Optimization</a:t>
              </a:r>
              <a:endParaRPr b="1" sz="3200">
                <a:solidFill>
                  <a:srgbClr val="4ECDC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76" name="Google Shape;376;p16"/>
          <p:cNvGrpSpPr/>
          <p:nvPr/>
        </p:nvGrpSpPr>
        <p:grpSpPr>
          <a:xfrm>
            <a:off x="457200" y="1047750"/>
            <a:ext cx="8229750" cy="2476500"/>
            <a:chOff x="457200" y="1047750"/>
            <a:chExt cx="8229750" cy="2476500"/>
          </a:xfrm>
        </p:grpSpPr>
        <p:sp>
          <p:nvSpPr>
            <p:cNvPr id="377" name="Google Shape;377;p16"/>
            <p:cNvSpPr/>
            <p:nvPr/>
          </p:nvSpPr>
          <p:spPr>
            <a:xfrm>
              <a:off x="457200" y="1047750"/>
              <a:ext cx="3905400" cy="2476500"/>
            </a:xfrm>
            <a:prstGeom prst="roundRect">
              <a:avLst>
                <a:gd fmla="val 4615" name="adj"/>
              </a:avLst>
            </a:prstGeom>
            <a:solidFill>
              <a:srgbClr val="1A202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16"/>
            <p:cNvSpPr txBox="1"/>
            <p:nvPr/>
          </p:nvSpPr>
          <p:spPr>
            <a:xfrm>
              <a:off x="647700" y="1190625"/>
              <a:ext cx="3524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F6B6B"/>
                  </a:solidFill>
                  <a:latin typeface="Arial"/>
                  <a:ea typeface="Arial"/>
                  <a:cs typeface="Arial"/>
                  <a:sym typeface="Arial"/>
                </a:rPr>
                <a:t>Regularization Techniques</a:t>
              </a:r>
              <a:endParaRPr b="1" sz="1400">
                <a:solidFill>
                  <a:srgbClr val="FF6B6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" name="Google Shape;379;p16"/>
            <p:cNvSpPr txBox="1"/>
            <p:nvPr/>
          </p:nvSpPr>
          <p:spPr>
            <a:xfrm>
              <a:off x="647700" y="1571625"/>
              <a:ext cx="3524400" cy="176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✓ Dropout (20%)</a:t>
              </a:r>
              <a:endParaRPr b="0" sz="11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✓ Early Stopping</a:t>
              </a:r>
              <a:endParaRPr b="0" sz="11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✓ Data Augmentation</a:t>
              </a:r>
              <a:endParaRPr b="0" sz="11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✓ Batch Normalization</a:t>
              </a:r>
              <a:endParaRPr b="0" sz="11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✓ L2 Regularization</a:t>
              </a:r>
              <a:endParaRPr b="0" sz="11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" name="Google Shape;380;p16"/>
            <p:cNvSpPr/>
            <p:nvPr/>
          </p:nvSpPr>
          <p:spPr>
            <a:xfrm>
              <a:off x="4781550" y="1047750"/>
              <a:ext cx="3905400" cy="2476500"/>
            </a:xfrm>
            <a:prstGeom prst="roundRect">
              <a:avLst>
                <a:gd fmla="val 4615" name="adj"/>
              </a:avLst>
            </a:prstGeom>
            <a:solidFill>
              <a:srgbClr val="1A202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16"/>
            <p:cNvSpPr txBox="1"/>
            <p:nvPr/>
          </p:nvSpPr>
          <p:spPr>
            <a:xfrm>
              <a:off x="4972050" y="1190625"/>
              <a:ext cx="3524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00897B"/>
                  </a:solidFill>
                  <a:latin typeface="Arial"/>
                  <a:ea typeface="Arial"/>
                  <a:cs typeface="Arial"/>
                  <a:sym typeface="Arial"/>
                </a:rPr>
                <a:t>Learning Rate Scheduling</a:t>
              </a:r>
              <a:endParaRPr b="1" sz="1400">
                <a:solidFill>
                  <a:srgbClr val="00897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" name="Google Shape;382;p16"/>
            <p:cNvSpPr txBox="1"/>
            <p:nvPr/>
          </p:nvSpPr>
          <p:spPr>
            <a:xfrm>
              <a:off x="4972050" y="1571625"/>
              <a:ext cx="3524400" cy="176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✓ Initial LR: 0.0001</a:t>
              </a:r>
              <a:endParaRPr b="0" sz="11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✓ ReduceLROnPlateau</a:t>
              </a:r>
              <a:endParaRPr b="0" sz="11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✓ Monitor: Val Loss</a:t>
              </a:r>
              <a:endParaRPr b="0" sz="11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✓ Factor: 0.5 reduction</a:t>
              </a:r>
              <a:endParaRPr b="0" sz="11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✓ Final LR: 0.0000125</a:t>
              </a:r>
              <a:endParaRPr b="0" sz="11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83" name="Google Shape;383;p16"/>
          <p:cNvGrpSpPr/>
          <p:nvPr/>
        </p:nvGrpSpPr>
        <p:grpSpPr>
          <a:xfrm>
            <a:off x="457200" y="3810000"/>
            <a:ext cx="8229600" cy="762000"/>
            <a:chOff x="457200" y="3810000"/>
            <a:chExt cx="8229600" cy="762000"/>
          </a:xfrm>
        </p:grpSpPr>
        <p:sp>
          <p:nvSpPr>
            <p:cNvPr id="384" name="Google Shape;384;p16"/>
            <p:cNvSpPr/>
            <p:nvPr/>
          </p:nvSpPr>
          <p:spPr>
            <a:xfrm>
              <a:off x="457200" y="3810000"/>
              <a:ext cx="8229600" cy="762000"/>
            </a:xfrm>
            <a:prstGeom prst="roundRect">
              <a:avLst>
                <a:gd fmla="val 15000" name="adj"/>
              </a:avLst>
            </a:prstGeom>
            <a:solidFill>
              <a:srgbClr val="1A2026"/>
            </a:solidFill>
            <a:ln cap="flat" cmpd="sng" w="9525">
              <a:solidFill>
                <a:srgbClr val="4ECDC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16"/>
            <p:cNvSpPr txBox="1"/>
            <p:nvPr/>
          </p:nvSpPr>
          <p:spPr>
            <a:xfrm>
              <a:off x="647700" y="3810000"/>
              <a:ext cx="78486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4ECDC4"/>
                  </a:solidFill>
                  <a:latin typeface="Arial"/>
                  <a:ea typeface="Arial"/>
                  <a:cs typeface="Arial"/>
                  <a:sym typeface="Arial"/>
                </a:rPr>
                <a:t>📊</a:t>
              </a:r>
              <a:r>
                <a:rPr b="1" lang="en" sz="13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Result: </a:t>
              </a:r>
              <a:r>
                <a:rPr b="1" lang="en" sz="1300">
                  <a:solidFill>
                    <a:srgbClr val="FF6B6B"/>
                  </a:solidFill>
                  <a:latin typeface="Arial"/>
                  <a:ea typeface="Arial"/>
                  <a:cs typeface="Arial"/>
                  <a:sym typeface="Arial"/>
                </a:rPr>
                <a:t>70% training accuracy</a:t>
              </a:r>
              <a:r>
                <a:rPr b="1" lang="en" sz="13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→ </a:t>
              </a:r>
              <a:r>
                <a:rPr b="1" lang="en" sz="1300">
                  <a:solidFill>
                    <a:srgbClr val="4ECDC4"/>
                  </a:solidFill>
                  <a:latin typeface="Arial"/>
                  <a:ea typeface="Arial"/>
                  <a:cs typeface="Arial"/>
                  <a:sym typeface="Arial"/>
                </a:rPr>
                <a:t>84% validation accuracy</a:t>
              </a:r>
              <a:endParaRPr b="1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94A3B8"/>
                  </a:solidFill>
                  <a:latin typeface="Arial"/>
                  <a:ea typeface="Arial"/>
                  <a:cs typeface="Arial"/>
                  <a:sym typeface="Arial"/>
                </a:rPr>
                <a:t>(Optimal regularization achieved through combined techniques)</a:t>
              </a:r>
              <a:endParaRPr b="0" sz="11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86" name="Google Shape;386;p16"/>
          <p:cNvGrpSpPr/>
          <p:nvPr/>
        </p:nvGrpSpPr>
        <p:grpSpPr>
          <a:xfrm>
            <a:off x="0" y="4762500"/>
            <a:ext cx="9144000" cy="381000"/>
            <a:chOff x="0" y="4762500"/>
            <a:chExt cx="9144000" cy="381000"/>
          </a:xfrm>
        </p:grpSpPr>
        <p:sp>
          <p:nvSpPr>
            <p:cNvPr id="387" name="Google Shape;387;p16"/>
            <p:cNvSpPr/>
            <p:nvPr/>
          </p:nvSpPr>
          <p:spPr>
            <a:xfrm>
              <a:off x="0" y="4762500"/>
              <a:ext cx="9144000" cy="381000"/>
            </a:xfrm>
            <a:prstGeom prst="rect">
              <a:avLst/>
            </a:prstGeom>
            <a:solidFill>
              <a:srgbClr val="000000">
                <a:alpha val="3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16"/>
            <p:cNvSpPr txBox="1"/>
            <p:nvPr/>
          </p:nvSpPr>
          <p:spPr>
            <a:xfrm>
              <a:off x="457200" y="4762500"/>
              <a:ext cx="3810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94A3B8"/>
                  </a:solidFill>
                  <a:latin typeface="Arial"/>
                  <a:ea typeface="Arial"/>
                  <a:cs typeface="Arial"/>
                  <a:sym typeface="Arial"/>
                </a:rPr>
                <a:t>Capstone Project: Emotion Recognition Optimization</a:t>
              </a:r>
              <a:endParaRPr sz="9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" name="Google Shape;389;p16"/>
            <p:cNvSpPr txBox="1"/>
            <p:nvPr/>
          </p:nvSpPr>
          <p:spPr>
            <a:xfrm>
              <a:off x="6781800" y="4762500"/>
              <a:ext cx="1905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Poojashri K</a:t>
              </a:r>
              <a:endParaRPr b="1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5" name="Google Shape;395;p17"/>
          <p:cNvGrpSpPr/>
          <p:nvPr/>
        </p:nvGrpSpPr>
        <p:grpSpPr>
          <a:xfrm>
            <a:off x="0" y="0"/>
            <a:ext cx="9144000" cy="762000"/>
            <a:chOff x="0" y="0"/>
            <a:chExt cx="9144000" cy="762000"/>
          </a:xfrm>
        </p:grpSpPr>
        <p:sp>
          <p:nvSpPr>
            <p:cNvPr id="396" name="Google Shape;396;p17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solidFill>
              <a:srgbClr val="1A202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17"/>
            <p:cNvSpPr txBox="1"/>
            <p:nvPr/>
          </p:nvSpPr>
          <p:spPr>
            <a:xfrm>
              <a:off x="457200" y="0"/>
              <a:ext cx="82296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200">
                  <a:solidFill>
                    <a:srgbClr val="4ECDC4"/>
                  </a:solidFill>
                  <a:latin typeface="Arial"/>
                  <a:ea typeface="Arial"/>
                  <a:cs typeface="Arial"/>
                  <a:sym typeface="Arial"/>
                </a:rPr>
                <a:t>Conclusion &amp; Key Findings</a:t>
              </a:r>
              <a:endParaRPr b="1" sz="3200">
                <a:solidFill>
                  <a:srgbClr val="4ECDC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98" name="Google Shape;398;p17"/>
          <p:cNvGrpSpPr/>
          <p:nvPr/>
        </p:nvGrpSpPr>
        <p:grpSpPr>
          <a:xfrm>
            <a:off x="457200" y="1047750"/>
            <a:ext cx="8229750" cy="3143250"/>
            <a:chOff x="457200" y="1047750"/>
            <a:chExt cx="8229750" cy="3143250"/>
          </a:xfrm>
        </p:grpSpPr>
        <p:sp>
          <p:nvSpPr>
            <p:cNvPr id="399" name="Google Shape;399;p17"/>
            <p:cNvSpPr/>
            <p:nvPr/>
          </p:nvSpPr>
          <p:spPr>
            <a:xfrm>
              <a:off x="457200" y="1047750"/>
              <a:ext cx="4019700" cy="952500"/>
            </a:xfrm>
            <a:prstGeom prst="roundRect">
              <a:avLst>
                <a:gd fmla="val 12000" name="adj"/>
              </a:avLst>
            </a:prstGeom>
            <a:solidFill>
              <a:srgbClr val="1A202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17"/>
            <p:cNvSpPr txBox="1"/>
            <p:nvPr/>
          </p:nvSpPr>
          <p:spPr>
            <a:xfrm>
              <a:off x="647700" y="1047750"/>
              <a:ext cx="36387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4ECDC4"/>
                  </a:solidFill>
                  <a:latin typeface="Arial"/>
                  <a:ea typeface="Arial"/>
                  <a:cs typeface="Arial"/>
                  <a:sym typeface="Arial"/>
                </a:rPr>
                <a:t>Model Performance</a:t>
              </a:r>
              <a:endParaRPr b="1" sz="1100">
                <a:solidFill>
                  <a:srgbClr val="4ECDC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Successfully built CNN model with 84% accuracy for 7-emotion classification.</a:t>
              </a:r>
              <a:endParaRPr sz="11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" name="Google Shape;401;p17"/>
            <p:cNvSpPr/>
            <p:nvPr/>
          </p:nvSpPr>
          <p:spPr>
            <a:xfrm>
              <a:off x="4667250" y="1047750"/>
              <a:ext cx="4019700" cy="952500"/>
            </a:xfrm>
            <a:prstGeom prst="roundRect">
              <a:avLst>
                <a:gd fmla="val 12000" name="adj"/>
              </a:avLst>
            </a:prstGeom>
            <a:solidFill>
              <a:srgbClr val="1A202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17"/>
            <p:cNvSpPr txBox="1"/>
            <p:nvPr/>
          </p:nvSpPr>
          <p:spPr>
            <a:xfrm>
              <a:off x="4857750" y="1047750"/>
              <a:ext cx="36387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4ECDC4"/>
                  </a:solidFill>
                  <a:latin typeface="Arial"/>
                  <a:ea typeface="Arial"/>
                  <a:cs typeface="Arial"/>
                  <a:sym typeface="Arial"/>
                </a:rPr>
                <a:t>Workplace Monitoring</a:t>
              </a:r>
              <a:endParaRPr b="1" sz="1100">
                <a:solidFill>
                  <a:srgbClr val="4ECDC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Real-time processing enables live stress monitoring in workplace settings.</a:t>
              </a:r>
              <a:endParaRPr sz="11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3" name="Google Shape;403;p17"/>
            <p:cNvSpPr/>
            <p:nvPr/>
          </p:nvSpPr>
          <p:spPr>
            <a:xfrm>
              <a:off x="457200" y="2143125"/>
              <a:ext cx="4019700" cy="952500"/>
            </a:xfrm>
            <a:prstGeom prst="roundRect">
              <a:avLst>
                <a:gd fmla="val 12000" name="adj"/>
              </a:avLst>
            </a:prstGeom>
            <a:solidFill>
              <a:srgbClr val="1A202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17"/>
            <p:cNvSpPr txBox="1"/>
            <p:nvPr/>
          </p:nvSpPr>
          <p:spPr>
            <a:xfrm>
              <a:off x="647700" y="2143125"/>
              <a:ext cx="36387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4ECDC4"/>
                  </a:solidFill>
                  <a:latin typeface="Arial"/>
                  <a:ea typeface="Arial"/>
                  <a:cs typeface="Arial"/>
                  <a:sym typeface="Arial"/>
                </a:rPr>
                <a:t>Optimization Success</a:t>
              </a:r>
              <a:endParaRPr b="1" sz="1100">
                <a:solidFill>
                  <a:srgbClr val="4ECDC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Proper data preprocessing and augmentation significantly improved performance.</a:t>
              </a:r>
              <a:endParaRPr sz="11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" name="Google Shape;405;p17"/>
            <p:cNvSpPr/>
            <p:nvPr/>
          </p:nvSpPr>
          <p:spPr>
            <a:xfrm>
              <a:off x="4667250" y="2143125"/>
              <a:ext cx="4019700" cy="952500"/>
            </a:xfrm>
            <a:prstGeom prst="roundRect">
              <a:avLst>
                <a:gd fmla="val 12000" name="adj"/>
              </a:avLst>
            </a:prstGeom>
            <a:solidFill>
              <a:srgbClr val="1A202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17"/>
            <p:cNvSpPr txBox="1"/>
            <p:nvPr/>
          </p:nvSpPr>
          <p:spPr>
            <a:xfrm>
              <a:off x="4857750" y="2143125"/>
              <a:ext cx="36387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4ECDC4"/>
                  </a:solidFill>
                  <a:latin typeface="Arial"/>
                  <a:ea typeface="Arial"/>
                  <a:cs typeface="Arial"/>
                  <a:sym typeface="Arial"/>
                </a:rPr>
                <a:t>Learning Dynamics</a:t>
              </a:r>
              <a:endParaRPr b="1" sz="1100">
                <a:solidFill>
                  <a:srgbClr val="4ECDC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Learning rate scheduling prevented overfitting and improved generalization.</a:t>
              </a:r>
              <a:endParaRPr sz="11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7" name="Google Shape;407;p17"/>
            <p:cNvSpPr/>
            <p:nvPr/>
          </p:nvSpPr>
          <p:spPr>
            <a:xfrm>
              <a:off x="457200" y="3238500"/>
              <a:ext cx="4019700" cy="952500"/>
            </a:xfrm>
            <a:prstGeom prst="roundRect">
              <a:avLst>
                <a:gd fmla="val 12000" name="adj"/>
              </a:avLst>
            </a:prstGeom>
            <a:solidFill>
              <a:srgbClr val="1A202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17"/>
            <p:cNvSpPr txBox="1"/>
            <p:nvPr/>
          </p:nvSpPr>
          <p:spPr>
            <a:xfrm>
              <a:off x="647700" y="3238500"/>
              <a:ext cx="36387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4ECDC4"/>
                  </a:solidFill>
                  <a:latin typeface="Arial"/>
                  <a:ea typeface="Arial"/>
                  <a:cs typeface="Arial"/>
                  <a:sym typeface="Arial"/>
                </a:rPr>
                <a:t>Emotion Detection Accuracy</a:t>
              </a:r>
              <a:endParaRPr b="1" sz="1100">
                <a:solidFill>
                  <a:srgbClr val="4ECDC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Model can detect happiness (93%) and fear (85%) with high accuracy.</a:t>
              </a:r>
              <a:endParaRPr sz="11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" name="Google Shape;409;p17"/>
            <p:cNvSpPr/>
            <p:nvPr/>
          </p:nvSpPr>
          <p:spPr>
            <a:xfrm>
              <a:off x="4667250" y="3238500"/>
              <a:ext cx="4019700" cy="952500"/>
            </a:xfrm>
            <a:prstGeom prst="roundRect">
              <a:avLst>
                <a:gd fmla="val 12000" name="adj"/>
              </a:avLst>
            </a:prstGeom>
            <a:solidFill>
              <a:srgbClr val="1A202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17"/>
            <p:cNvSpPr txBox="1"/>
            <p:nvPr/>
          </p:nvSpPr>
          <p:spPr>
            <a:xfrm>
              <a:off x="4857750" y="3238500"/>
              <a:ext cx="36387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4ECDC4"/>
                  </a:solidFill>
                  <a:latin typeface="Arial"/>
                  <a:ea typeface="Arial"/>
                  <a:cs typeface="Arial"/>
                  <a:sym typeface="Arial"/>
                </a:rPr>
                <a:t>Deployment Readiness</a:t>
              </a:r>
              <a:endParaRPr b="1" sz="1100">
                <a:solidFill>
                  <a:srgbClr val="4ECDC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System ready for deployment in stress-aware workplace management.</a:t>
              </a:r>
              <a:endParaRPr sz="11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11" name="Google Shape;411;p17"/>
          <p:cNvGrpSpPr/>
          <p:nvPr/>
        </p:nvGrpSpPr>
        <p:grpSpPr>
          <a:xfrm>
            <a:off x="0" y="4762500"/>
            <a:ext cx="9144000" cy="381000"/>
            <a:chOff x="0" y="4762500"/>
            <a:chExt cx="9144000" cy="381000"/>
          </a:xfrm>
        </p:grpSpPr>
        <p:sp>
          <p:nvSpPr>
            <p:cNvPr id="412" name="Google Shape;412;p17"/>
            <p:cNvSpPr/>
            <p:nvPr/>
          </p:nvSpPr>
          <p:spPr>
            <a:xfrm>
              <a:off x="0" y="4762500"/>
              <a:ext cx="9144000" cy="381000"/>
            </a:xfrm>
            <a:prstGeom prst="rect">
              <a:avLst/>
            </a:prstGeom>
            <a:solidFill>
              <a:srgbClr val="000000">
                <a:alpha val="3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17"/>
            <p:cNvSpPr txBox="1"/>
            <p:nvPr/>
          </p:nvSpPr>
          <p:spPr>
            <a:xfrm>
              <a:off x="457200" y="4762500"/>
              <a:ext cx="3810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94A3B8"/>
                  </a:solidFill>
                  <a:latin typeface="Arial"/>
                  <a:ea typeface="Arial"/>
                  <a:cs typeface="Arial"/>
                  <a:sym typeface="Arial"/>
                </a:rPr>
                <a:t>Capstone Project: Worker Stress Analysis Conclusion</a:t>
              </a:r>
              <a:endParaRPr sz="9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" name="Google Shape;414;p17"/>
            <p:cNvSpPr txBox="1"/>
            <p:nvPr/>
          </p:nvSpPr>
          <p:spPr>
            <a:xfrm>
              <a:off x="6781800" y="4762500"/>
              <a:ext cx="1905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Poojashri K</a:t>
              </a:r>
              <a:endParaRPr b="1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419"/>
        </a:solidFill>
      </p:bgPr>
    </p:bg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18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1A202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18"/>
          <p:cNvSpPr txBox="1"/>
          <p:nvPr/>
        </p:nvSpPr>
        <p:spPr>
          <a:xfrm>
            <a:off x="457200" y="0"/>
            <a:ext cx="8229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4ECDC4"/>
                </a:solidFill>
                <a:latin typeface="Arial"/>
                <a:ea typeface="Arial"/>
                <a:cs typeface="Arial"/>
                <a:sym typeface="Arial"/>
              </a:rPr>
              <a:t>Future Work &amp; AWS Deployment</a:t>
            </a:r>
            <a:endParaRPr b="1" sz="3200">
              <a:solidFill>
                <a:srgbClr val="4ECDC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0" name="Google Shape;42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952500"/>
            <a:ext cx="2952900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18"/>
          <p:cNvSpPr txBox="1"/>
          <p:nvPr/>
        </p:nvSpPr>
        <p:spPr>
          <a:xfrm>
            <a:off x="647700" y="1095375"/>
            <a:ext cx="25719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FF6B6B"/>
                </a:solidFill>
                <a:latin typeface="Arial"/>
                <a:ea typeface="Arial"/>
                <a:cs typeface="Arial"/>
                <a:sym typeface="Arial"/>
              </a:rPr>
              <a:t>Future Enhancements</a:t>
            </a:r>
            <a:endParaRPr b="1" sz="1400">
              <a:solidFill>
                <a:srgbClr val="FF6B6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18"/>
          <p:cNvSpPr txBox="1"/>
          <p:nvPr/>
        </p:nvSpPr>
        <p:spPr>
          <a:xfrm>
            <a:off x="647700" y="1476375"/>
            <a:ext cx="2571900" cy="21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Arial"/>
              <a:buChar char="●"/>
            </a:pPr>
            <a:r>
              <a:rPr b="0" lang="en" sz="11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Transfer Learning</a:t>
            </a:r>
            <a:endParaRPr b="0" sz="1100">
              <a:solidFill>
                <a:srgbClr val="CBD5E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60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Arial"/>
              <a:buChar char="●"/>
            </a:pPr>
            <a:r>
              <a:rPr b="0" lang="en" sz="11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3D Face Recognition</a:t>
            </a:r>
            <a:endParaRPr b="0" sz="1100">
              <a:solidFill>
                <a:srgbClr val="CBD5E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60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Arial"/>
              <a:buChar char="●"/>
            </a:pPr>
            <a:r>
              <a:rPr b="0" lang="en" sz="11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Multi-face Detection</a:t>
            </a:r>
            <a:endParaRPr b="0" sz="1100">
              <a:solidFill>
                <a:srgbClr val="CBD5E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60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Arial"/>
              <a:buChar char="●"/>
            </a:pPr>
            <a:r>
              <a:rPr b="0" lang="en" sz="11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Low-light Optimization</a:t>
            </a:r>
            <a:endParaRPr b="0" sz="1100">
              <a:solidFill>
                <a:srgbClr val="CBD5E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60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Arial"/>
              <a:buChar char="●"/>
            </a:pPr>
            <a:r>
              <a:rPr b="0" lang="en" sz="11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Multi-emotion Blending</a:t>
            </a:r>
            <a:endParaRPr b="0" sz="1100">
              <a:solidFill>
                <a:srgbClr val="CBD5E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60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Arial"/>
              <a:buChar char="●"/>
            </a:pPr>
            <a:r>
              <a:rPr b="0" lang="en" sz="11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CCTV camera recognition</a:t>
            </a:r>
            <a:endParaRPr b="0" sz="1100">
              <a:solidFill>
                <a:srgbClr val="CBD5E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3" name="Google Shape;42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00450" y="952500"/>
            <a:ext cx="5086500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18"/>
          <p:cNvSpPr txBox="1"/>
          <p:nvPr/>
        </p:nvSpPr>
        <p:spPr>
          <a:xfrm>
            <a:off x="3790950" y="1095375"/>
            <a:ext cx="47052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897B"/>
                </a:solidFill>
                <a:latin typeface="Arial"/>
                <a:ea typeface="Arial"/>
                <a:cs typeface="Arial"/>
                <a:sym typeface="Arial"/>
              </a:rPr>
              <a:t>Cloud Deployment: Flask on AWS</a:t>
            </a:r>
            <a:endParaRPr b="1" sz="1200">
              <a:solidFill>
                <a:srgbClr val="00897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18"/>
          <p:cNvSpPr txBox="1"/>
          <p:nvPr/>
        </p:nvSpPr>
        <p:spPr>
          <a:xfrm>
            <a:off x="3790950" y="1476375"/>
            <a:ext cx="2238300" cy="14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897B"/>
                </a:solidFill>
                <a:latin typeface="Arial"/>
                <a:ea typeface="Arial"/>
                <a:cs typeface="Arial"/>
                <a:sym typeface="Arial"/>
              </a:rPr>
              <a:t>AWS Elastic Beanstalk</a:t>
            </a:r>
            <a:endParaRPr b="1" sz="1100">
              <a:solidFill>
                <a:srgbClr val="00897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Orchestration service for deploying infrastructure. Automatically handles capacity provisioning, load balancing, and scaling.</a:t>
            </a:r>
            <a:endParaRPr b="0" sz="1000">
              <a:solidFill>
                <a:srgbClr val="CBD5E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18"/>
          <p:cNvSpPr txBox="1"/>
          <p:nvPr/>
        </p:nvSpPr>
        <p:spPr>
          <a:xfrm>
            <a:off x="6124575" y="1476375"/>
            <a:ext cx="2238300" cy="14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897B"/>
                </a:solidFill>
                <a:latin typeface="Arial"/>
                <a:ea typeface="Arial"/>
                <a:cs typeface="Arial"/>
                <a:sym typeface="Arial"/>
              </a:rPr>
              <a:t>AWS EC2 Instances</a:t>
            </a:r>
            <a:endParaRPr b="1" sz="1100">
              <a:solidFill>
                <a:srgbClr val="00897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Scalable virtual servers (Elastic Compute Cloud) providing secure, resizable compute capacity in the cloud.</a:t>
            </a:r>
            <a:endParaRPr b="0" sz="1000">
              <a:solidFill>
                <a:srgbClr val="CBD5E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7" name="Google Shape;427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90950" y="3000375"/>
            <a:ext cx="4705200" cy="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p18"/>
          <p:cNvSpPr txBox="1"/>
          <p:nvPr/>
        </p:nvSpPr>
        <p:spPr>
          <a:xfrm>
            <a:off x="3790950" y="3095625"/>
            <a:ext cx="47052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AWS Management Console</a:t>
            </a:r>
            <a:endParaRPr b="1" sz="1100">
              <a:solidFill>
                <a:srgbClr val="CBD5E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Server Link: </a:t>
            </a:r>
            <a:r>
              <a:rPr lang="en" sz="1200">
                <a:solidFill>
                  <a:srgbClr val="E3E3E3"/>
                </a:solidFill>
                <a:highlight>
                  <a:srgbClr val="1E1F20"/>
                </a:highlight>
              </a:rPr>
              <a:t>http://127.0.0.1:5000/</a:t>
            </a:r>
            <a:r>
              <a:rPr lang="en" sz="1100">
                <a:solidFill>
                  <a:schemeClr val="dk1"/>
                </a:solidFill>
              </a:rPr>
              <a:t> </a:t>
            </a:r>
            <a:endParaRPr b="0" sz="1000">
              <a:solidFill>
                <a:srgbClr val="94A3B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1" lang="en" sz="9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N.B: If the website didn't open, then try refreshing the page 2 to 3 times.</a:t>
            </a:r>
            <a:endParaRPr b="0" i="1" sz="900">
              <a:solidFill>
                <a:srgbClr val="94A3B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9" name="Google Shape;429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2438" y="3948113"/>
            <a:ext cx="8239200" cy="676200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p18"/>
          <p:cNvSpPr txBox="1"/>
          <p:nvPr/>
        </p:nvSpPr>
        <p:spPr>
          <a:xfrm>
            <a:off x="647700" y="3952875"/>
            <a:ext cx="78486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🎯 Potential Impact: </a:t>
            </a:r>
            <a:r>
              <a:rPr b="1" lang="en" sz="1300">
                <a:solidFill>
                  <a:srgbClr val="4ECDC4"/>
                </a:solidFill>
                <a:latin typeface="Arial"/>
                <a:ea typeface="Arial"/>
                <a:cs typeface="Arial"/>
                <a:sym typeface="Arial"/>
              </a:rPr>
              <a:t>Proactive mental health monitoring, productivity optimization, early intervention</a:t>
            </a:r>
            <a:endParaRPr b="1" sz="13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18"/>
          <p:cNvSpPr/>
          <p:nvPr/>
        </p:nvSpPr>
        <p:spPr>
          <a:xfrm>
            <a:off x="0" y="4810125"/>
            <a:ext cx="9144000" cy="333300"/>
          </a:xfrm>
          <a:prstGeom prst="rect">
            <a:avLst/>
          </a:prstGeom>
          <a:solidFill>
            <a:srgbClr val="000000">
              <a:alpha val="3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18"/>
          <p:cNvSpPr txBox="1"/>
          <p:nvPr/>
        </p:nvSpPr>
        <p:spPr>
          <a:xfrm>
            <a:off x="457200" y="4810125"/>
            <a:ext cx="38100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Capstone Project: Future Work &amp; Deployment</a:t>
            </a:r>
            <a:endParaRPr b="0" sz="900">
              <a:solidFill>
                <a:srgbClr val="94A3B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18"/>
          <p:cNvSpPr txBox="1"/>
          <p:nvPr/>
        </p:nvSpPr>
        <p:spPr>
          <a:xfrm>
            <a:off x="6781800" y="4810125"/>
            <a:ext cx="19050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Poojashri K</a:t>
            </a:r>
            <a:endParaRPr b="1" sz="9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419"/>
        </a:solidFill>
      </p:bgPr>
    </p:bg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19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ECDC4"/>
              </a:buClr>
              <a:buSzPts val="5400"/>
              <a:buFont typeface="Arial"/>
              <a:buNone/>
            </a:pPr>
            <a:r>
              <a:rPr b="1" i="0" lang="en" sz="5400" u="none" cap="none" strike="noStrike">
                <a:solidFill>
                  <a:srgbClr val="4ECDC4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9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0" i="0" lang="en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Real-time Face Emotion Recognition in Worker Stress Analysis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9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2000"/>
              <a:buFont typeface="Calibri"/>
              <a:buNone/>
            </a:pPr>
            <a:r>
              <a:rPr b="0" i="0" lang="en" sz="200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Questions &amp; Discussion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9"/>
          <p:cNvSpPr/>
          <p:nvPr/>
        </p:nvSpPr>
        <p:spPr>
          <a:xfrm>
            <a:off x="1828800" y="5760720"/>
            <a:ext cx="5486400" cy="4572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